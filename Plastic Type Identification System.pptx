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2"/>
  </p:notesMasterIdLst>
  <p:sldIdLst>
    <p:sldId id="292" r:id="rId5"/>
    <p:sldId id="1291" r:id="rId6"/>
    <p:sldId id="1292" r:id="rId7"/>
    <p:sldId id="1297" r:id="rId8"/>
    <p:sldId id="1293" r:id="rId9"/>
    <p:sldId id="1296" r:id="rId10"/>
    <p:sldId id="1250"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C73"/>
    <a:srgbClr val="E8ECF8"/>
    <a:srgbClr val="EF6331"/>
    <a:srgbClr val="223366"/>
    <a:srgbClr val="00717D"/>
    <a:srgbClr val="C9D2ED"/>
    <a:srgbClr val="851910"/>
    <a:srgbClr val="0000FF"/>
    <a:srgbClr val="FFCD8C"/>
    <a:srgbClr val="9F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14" y="114"/>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8027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BA23-5FDD-5D7E-F6FC-E4A6A7F5FDAF}"/>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1DBF0E-B651-D205-69BC-E38929484D98}"/>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5EAFE9-FEB4-90FA-7604-E71268E9BE4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03-06-2026</a:t>
            </a:fld>
            <a:endParaRPr lang="en-IN"/>
          </a:p>
        </p:txBody>
      </p:sp>
      <p:sp>
        <p:nvSpPr>
          <p:cNvPr id="5" name="Footer Placeholder 4">
            <a:extLst>
              <a:ext uri="{FF2B5EF4-FFF2-40B4-BE49-F238E27FC236}">
                <a16:creationId xmlns:a16="http://schemas.microsoft.com/office/drawing/2014/main" id="{90042C0C-D784-7894-6E7A-A3163E7BD21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97E244B-37C0-9DC6-22CD-EB660918FB6E}"/>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1215169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2" name="Rectangle 1">
            <a:extLst>
              <a:ext uri="{FF2B5EF4-FFF2-40B4-BE49-F238E27FC236}">
                <a16:creationId xmlns:a16="http://schemas.microsoft.com/office/drawing/2014/main" id="{1C8B4DC1-1FB6-97A3-9F51-B9358500E0A8}"/>
              </a:ext>
            </a:extLst>
          </p:cNvPr>
          <p:cNvSpPr/>
          <p:nvPr userDrawn="1"/>
        </p:nvSpPr>
        <p:spPr>
          <a:xfrm>
            <a:off x="0" y="454356"/>
            <a:ext cx="9144000" cy="45719"/>
          </a:xfrm>
          <a:prstGeom prst="rect">
            <a:avLst/>
          </a:prstGeom>
          <a:solidFill>
            <a:srgbClr val="EF63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97B0C45-392E-206A-6503-A52CA087AB64}"/>
              </a:ext>
            </a:extLst>
          </p:cNvPr>
          <p:cNvSpPr/>
          <p:nvPr userDrawn="1"/>
        </p:nvSpPr>
        <p:spPr>
          <a:xfrm>
            <a:off x="0" y="2445"/>
            <a:ext cx="9144000" cy="467289"/>
          </a:xfrm>
          <a:prstGeom prst="rect">
            <a:avLst/>
          </a:prstGeom>
          <a:solidFill>
            <a:srgbClr val="E8EC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7717638" y="48027"/>
            <a:ext cx="1125129" cy="376123"/>
          </a:xfrm>
          <a:prstGeom prst="rect">
            <a:avLst/>
          </a:prstGeom>
          <a:noFill/>
          <a:ln>
            <a:noFill/>
          </a:ln>
        </p:spPr>
      </p:pic>
      <p:sp>
        <p:nvSpPr>
          <p:cNvPr id="14" name="Rectangle 13">
            <a:extLst>
              <a:ext uri="{FF2B5EF4-FFF2-40B4-BE49-F238E27FC236}">
                <a16:creationId xmlns:a16="http://schemas.microsoft.com/office/drawing/2014/main" id="{51E902BD-DE18-50F7-2A75-FEB6FA54A56F}"/>
              </a:ext>
            </a:extLst>
          </p:cNvPr>
          <p:cNvSpPr/>
          <p:nvPr userDrawn="1"/>
        </p:nvSpPr>
        <p:spPr>
          <a:xfrm>
            <a:off x="0" y="5097781"/>
            <a:ext cx="9144000"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1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sv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hyperlink" Target="https://copilotstudio.microsoft.com/environments/Default-ad06ef22-d6dc-4a55-b4c1-c3a158f5f147/bots/cr78b_copilot1tJ7uAB/canva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ai-based-plastic-type-image-classification-dwgwwkrohmsf7pof3ne.streamlit.app/?page=home&amp;theme=dark"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48131F8-7219-F30F-23C3-B1A523F13B4D}"/>
              </a:ext>
            </a:extLst>
          </p:cNvPr>
          <p:cNvSpPr/>
          <p:nvPr/>
        </p:nvSpPr>
        <p:spPr>
          <a:xfrm>
            <a:off x="0" y="0"/>
            <a:ext cx="9144000" cy="51435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A group of people sitting around a table&#10;&#10;Description automatically generated">
            <a:extLst>
              <a:ext uri="{FF2B5EF4-FFF2-40B4-BE49-F238E27FC236}">
                <a16:creationId xmlns:a16="http://schemas.microsoft.com/office/drawing/2014/main" id="{F50512D5-A288-DE64-5FE5-FAA83B724C73}"/>
              </a:ext>
            </a:extLst>
          </p:cNvPr>
          <p:cNvPicPr>
            <a:picLocks noChangeAspect="1"/>
          </p:cNvPicPr>
          <p:nvPr/>
        </p:nvPicPr>
        <p:blipFill rotWithShape="1">
          <a:blip r:embed="rId3"/>
          <a:srcRect r="27854" b="25110"/>
          <a:stretch/>
        </p:blipFill>
        <p:spPr>
          <a:xfrm>
            <a:off x="3591976" y="-11575"/>
            <a:ext cx="5563599" cy="3851975"/>
          </a:xfrm>
          <a:prstGeom prst="rect">
            <a:avLst/>
          </a:prstGeom>
        </p:spPr>
      </p:pic>
      <p:grpSp>
        <p:nvGrpSpPr>
          <p:cNvPr id="9" name="Group 6">
            <a:extLst>
              <a:ext uri="{FF2B5EF4-FFF2-40B4-BE49-F238E27FC236}">
                <a16:creationId xmlns:a16="http://schemas.microsoft.com/office/drawing/2014/main" id="{ED09A716-F5FD-30AD-BA53-B5110DF9CEEE}"/>
              </a:ext>
            </a:extLst>
          </p:cNvPr>
          <p:cNvGrpSpPr/>
          <p:nvPr/>
        </p:nvGrpSpPr>
        <p:grpSpPr>
          <a:xfrm>
            <a:off x="162379" y="231145"/>
            <a:ext cx="5347819" cy="2630034"/>
            <a:chOff x="-30164" y="-47625"/>
            <a:chExt cx="1548591" cy="761590"/>
          </a:xfrm>
        </p:grpSpPr>
        <p:sp>
          <p:nvSpPr>
            <p:cNvPr id="10" name="Freeform 7">
              <a:extLst>
                <a:ext uri="{FF2B5EF4-FFF2-40B4-BE49-F238E27FC236}">
                  <a16:creationId xmlns:a16="http://schemas.microsoft.com/office/drawing/2014/main" id="{6A1020B1-E8B3-2D26-3C61-328C79130C0D}"/>
                </a:ext>
              </a:extLst>
            </p:cNvPr>
            <p:cNvSpPr/>
            <p:nvPr/>
          </p:nvSpPr>
          <p:spPr>
            <a:xfrm>
              <a:off x="-30164" y="0"/>
              <a:ext cx="1548591" cy="713965"/>
            </a:xfrm>
            <a:custGeom>
              <a:avLst/>
              <a:gdLst/>
              <a:ahLst/>
              <a:cxnLst/>
              <a:rect l="l" t="t" r="r" b="b"/>
              <a:pathLst>
                <a:path w="1223699" h="713965">
                  <a:moveTo>
                    <a:pt x="0" y="0"/>
                  </a:moveTo>
                  <a:lnTo>
                    <a:pt x="1223699" y="0"/>
                  </a:lnTo>
                  <a:lnTo>
                    <a:pt x="1223699" y="713965"/>
                  </a:lnTo>
                  <a:lnTo>
                    <a:pt x="0" y="713965"/>
                  </a:lnTo>
                  <a:close/>
                </a:path>
              </a:pathLst>
            </a:custGeom>
            <a:solidFill>
              <a:srgbClr val="FFFFFF"/>
            </a:solidFill>
          </p:spPr>
          <p:txBody>
            <a:bodyPr/>
            <a:lstStyle/>
            <a:p>
              <a:endParaRPr lang="en-US"/>
            </a:p>
          </p:txBody>
        </p:sp>
        <p:sp>
          <p:nvSpPr>
            <p:cNvPr id="11" name="TextBox 8">
              <a:extLst>
                <a:ext uri="{FF2B5EF4-FFF2-40B4-BE49-F238E27FC236}">
                  <a16:creationId xmlns:a16="http://schemas.microsoft.com/office/drawing/2014/main" id="{2F1C3D6B-7CF9-2BD5-8B36-9878D3FBC36D}"/>
                </a:ext>
              </a:extLst>
            </p:cNvPr>
            <p:cNvSpPr txBox="1"/>
            <p:nvPr/>
          </p:nvSpPr>
          <p:spPr>
            <a:xfrm>
              <a:off x="0" y="-47625"/>
              <a:ext cx="1223699" cy="761589"/>
            </a:xfrm>
            <a:prstGeom prst="rect">
              <a:avLst/>
            </a:prstGeom>
          </p:spPr>
          <p:txBody>
            <a:bodyPr lIns="50800" tIns="50800" rIns="50800" bIns="50800" rtlCol="0" anchor="ctr"/>
            <a:lstStyle/>
            <a:p>
              <a:pPr algn="ctr">
                <a:lnSpc>
                  <a:spcPts val="2239"/>
                </a:lnSpc>
              </a:pPr>
              <a:endParaRPr/>
            </a:p>
          </p:txBody>
        </p:sp>
      </p:grpSp>
      <p:grpSp>
        <p:nvGrpSpPr>
          <p:cNvPr id="12" name="Group 9">
            <a:extLst>
              <a:ext uri="{FF2B5EF4-FFF2-40B4-BE49-F238E27FC236}">
                <a16:creationId xmlns:a16="http://schemas.microsoft.com/office/drawing/2014/main" id="{AE32C22C-3FDB-2396-2943-AFA12977BDA2}"/>
              </a:ext>
            </a:extLst>
          </p:cNvPr>
          <p:cNvGrpSpPr/>
          <p:nvPr/>
        </p:nvGrpSpPr>
        <p:grpSpPr>
          <a:xfrm>
            <a:off x="626319" y="1307448"/>
            <a:ext cx="4820890" cy="773873"/>
            <a:chOff x="-117556" y="-72266"/>
            <a:chExt cx="1991689" cy="319716"/>
          </a:xfrm>
        </p:grpSpPr>
        <p:sp>
          <p:nvSpPr>
            <p:cNvPr id="13" name="Freeform 10">
              <a:extLst>
                <a:ext uri="{FF2B5EF4-FFF2-40B4-BE49-F238E27FC236}">
                  <a16:creationId xmlns:a16="http://schemas.microsoft.com/office/drawing/2014/main" id="{DD5D5B45-D48F-CBC2-FAE6-3C32D4CA4A54}"/>
                </a:ext>
              </a:extLst>
            </p:cNvPr>
            <p:cNvSpPr/>
            <p:nvPr/>
          </p:nvSpPr>
          <p:spPr>
            <a:xfrm>
              <a:off x="-117556" y="-72266"/>
              <a:ext cx="1991689" cy="319716"/>
            </a:xfrm>
            <a:custGeom>
              <a:avLst/>
              <a:gdLst/>
              <a:ahLst/>
              <a:cxnLst/>
              <a:rect l="l" t="t" r="r" b="b"/>
              <a:pathLst>
                <a:path w="736235" h="178921">
                  <a:moveTo>
                    <a:pt x="0" y="0"/>
                  </a:moveTo>
                  <a:lnTo>
                    <a:pt x="736235" y="0"/>
                  </a:lnTo>
                  <a:lnTo>
                    <a:pt x="736235" y="178921"/>
                  </a:lnTo>
                  <a:lnTo>
                    <a:pt x="0" y="178921"/>
                  </a:lnTo>
                  <a:close/>
                </a:path>
              </a:pathLst>
            </a:custGeom>
            <a:solidFill>
              <a:srgbClr val="E8ECF8"/>
            </a:solidFill>
            <a:ln cap="sq">
              <a:noFill/>
              <a:prstDash val="solid"/>
              <a:miter/>
            </a:ln>
          </p:spPr>
          <p:txBody>
            <a:bodyPr/>
            <a:lstStyle/>
            <a:p>
              <a:endParaRPr lang="en-US"/>
            </a:p>
          </p:txBody>
        </p:sp>
        <p:sp>
          <p:nvSpPr>
            <p:cNvPr id="14" name="TextBox 11">
              <a:extLst>
                <a:ext uri="{FF2B5EF4-FFF2-40B4-BE49-F238E27FC236}">
                  <a16:creationId xmlns:a16="http://schemas.microsoft.com/office/drawing/2014/main" id="{D4602096-BB2A-D06A-F2F9-A1B85FB7B21D}"/>
                </a:ext>
              </a:extLst>
            </p:cNvPr>
            <p:cNvSpPr txBox="1"/>
            <p:nvPr/>
          </p:nvSpPr>
          <p:spPr>
            <a:xfrm>
              <a:off x="0" y="-66675"/>
              <a:ext cx="736235" cy="245596"/>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16" name="Freeform 13">
            <a:extLst>
              <a:ext uri="{FF2B5EF4-FFF2-40B4-BE49-F238E27FC236}">
                <a16:creationId xmlns:a16="http://schemas.microsoft.com/office/drawing/2014/main" id="{E92715B5-E2D3-4776-93F0-B360B5A59553}"/>
              </a:ext>
            </a:extLst>
          </p:cNvPr>
          <p:cNvSpPr/>
          <p:nvPr/>
        </p:nvSpPr>
        <p:spPr>
          <a:xfrm>
            <a:off x="1783618" y="199"/>
            <a:ext cx="1032349" cy="451764"/>
          </a:xfrm>
          <a:custGeom>
            <a:avLst/>
            <a:gdLst/>
            <a:ahLst/>
            <a:cxnLst/>
            <a:rect l="l" t="t" r="r" b="b"/>
            <a:pathLst>
              <a:path w="2102123" h="919905">
                <a:moveTo>
                  <a:pt x="0" y="0"/>
                </a:moveTo>
                <a:lnTo>
                  <a:pt x="2102123" y="0"/>
                </a:lnTo>
                <a:lnTo>
                  <a:pt x="2102123" y="919905"/>
                </a:lnTo>
                <a:lnTo>
                  <a:pt x="0" y="919905"/>
                </a:lnTo>
                <a:lnTo>
                  <a:pt x="0" y="0"/>
                </a:lnTo>
                <a:close/>
              </a:path>
            </a:pathLst>
          </a:custGeom>
          <a:blipFill dpi="0" rotWithShape="1">
            <a:blip r:embed="rId4">
              <a:alphaModFix amt="32000"/>
              <a:extLst>
                <a:ext uri="{96DAC541-7B7A-43D3-8B79-37D633B846F1}">
                  <asvg:svgBlip xmlns:asvg="http://schemas.microsoft.com/office/drawing/2016/SVG/main" r:embed="rId5"/>
                </a:ext>
              </a:extLst>
            </a:blip>
            <a:srcRect/>
            <a:stretch>
              <a:fillRect t="-106728" r="-65303"/>
            </a:stretch>
          </a:blipFill>
        </p:spPr>
        <p:txBody>
          <a:bodyPr/>
          <a:lstStyle/>
          <a:p>
            <a:endParaRPr lang="en-US"/>
          </a:p>
        </p:txBody>
      </p:sp>
      <p:sp>
        <p:nvSpPr>
          <p:cNvPr id="17" name="Freeform 14">
            <a:extLst>
              <a:ext uri="{FF2B5EF4-FFF2-40B4-BE49-F238E27FC236}">
                <a16:creationId xmlns:a16="http://schemas.microsoft.com/office/drawing/2014/main" id="{E93B0532-3834-38EB-306B-BB126F538A06}"/>
              </a:ext>
            </a:extLst>
          </p:cNvPr>
          <p:cNvSpPr/>
          <p:nvPr/>
        </p:nvSpPr>
        <p:spPr>
          <a:xfrm>
            <a:off x="151647" y="93093"/>
            <a:ext cx="770970" cy="773872"/>
          </a:xfrm>
          <a:custGeom>
            <a:avLst/>
            <a:gdLst/>
            <a:ahLst/>
            <a:cxnLst/>
            <a:rect l="l" t="t" r="r" b="b"/>
            <a:pathLst>
              <a:path w="1569889" h="1575798">
                <a:moveTo>
                  <a:pt x="0" y="0"/>
                </a:moveTo>
                <a:lnTo>
                  <a:pt x="1569889" y="0"/>
                </a:lnTo>
                <a:lnTo>
                  <a:pt x="1569889" y="1575798"/>
                </a:lnTo>
                <a:lnTo>
                  <a:pt x="0" y="1575798"/>
                </a:lnTo>
                <a:lnTo>
                  <a:pt x="0" y="0"/>
                </a:lnTo>
                <a:close/>
              </a:path>
            </a:pathLst>
          </a:custGeom>
          <a:blipFill dpi="0" rotWithShape="1">
            <a:blip r:embed="rId6">
              <a:alphaModFix amt="30000"/>
              <a:extLst>
                <a:ext uri="{96DAC541-7B7A-43D3-8B79-37D633B846F1}">
                  <asvg:svgBlip xmlns:asvg="http://schemas.microsoft.com/office/drawing/2016/SVG/main" r:embed="rId7"/>
                </a:ext>
              </a:extLst>
            </a:blip>
            <a:srcRect/>
            <a:stretch>
              <a:fillRect/>
            </a:stretch>
          </a:blipFill>
        </p:spPr>
        <p:txBody>
          <a:bodyPr/>
          <a:lstStyle/>
          <a:p>
            <a:endParaRPr lang="en-US"/>
          </a:p>
        </p:txBody>
      </p:sp>
      <p:sp>
        <p:nvSpPr>
          <p:cNvPr id="35" name="TextBox 34">
            <a:extLst>
              <a:ext uri="{FF2B5EF4-FFF2-40B4-BE49-F238E27FC236}">
                <a16:creationId xmlns:a16="http://schemas.microsoft.com/office/drawing/2014/main" id="{B1520DAD-F8CC-E505-163A-1A40C1FCC226}"/>
              </a:ext>
            </a:extLst>
          </p:cNvPr>
          <p:cNvSpPr txBox="1"/>
          <p:nvPr/>
        </p:nvSpPr>
        <p:spPr>
          <a:xfrm>
            <a:off x="793587" y="2065201"/>
            <a:ext cx="4089105" cy="954107"/>
          </a:xfrm>
          <a:prstGeom prst="rect">
            <a:avLst/>
          </a:prstGeom>
          <a:noFill/>
        </p:spPr>
        <p:txBody>
          <a:bodyPr wrap="square" lIns="91440" tIns="45720" rIns="91440" bIns="45720" rtlCol="0" anchor="t">
            <a:spAutoFit/>
          </a:bodyPr>
          <a:lstStyle/>
          <a:p>
            <a:r>
              <a:rPr lang="en-US" sz="2800" b="1">
                <a:solidFill>
                  <a:schemeClr val="tx1"/>
                </a:solidFill>
              </a:rPr>
              <a:t>Multilingual Customer Fee</a:t>
            </a:r>
          </a:p>
        </p:txBody>
      </p:sp>
      <p:pic>
        <p:nvPicPr>
          <p:cNvPr id="39" name="Picture 38" descr="A group of people looking at a computer&#10;&#10;Description automatically generated">
            <a:extLst>
              <a:ext uri="{FF2B5EF4-FFF2-40B4-BE49-F238E27FC236}">
                <a16:creationId xmlns:a16="http://schemas.microsoft.com/office/drawing/2014/main" id="{18A248EA-6D70-BC00-C66F-B374210692E6}"/>
              </a:ext>
            </a:extLst>
          </p:cNvPr>
          <p:cNvPicPr>
            <a:picLocks noChangeAspect="1"/>
          </p:cNvPicPr>
          <p:nvPr/>
        </p:nvPicPr>
        <p:blipFill rotWithShape="1">
          <a:blip r:embed="rId8"/>
          <a:srcRect t="62443" r="30604" b="14243"/>
          <a:stretch/>
        </p:blipFill>
        <p:spPr>
          <a:xfrm>
            <a:off x="-8839" y="3956265"/>
            <a:ext cx="3569383" cy="1199146"/>
          </a:xfrm>
          <a:prstGeom prst="rect">
            <a:avLst/>
          </a:prstGeom>
        </p:spPr>
      </p:pic>
      <p:sp>
        <p:nvSpPr>
          <p:cNvPr id="40" name="Google Shape;70;p13">
            <a:extLst>
              <a:ext uri="{FF2B5EF4-FFF2-40B4-BE49-F238E27FC236}">
                <a16:creationId xmlns:a16="http://schemas.microsoft.com/office/drawing/2014/main" id="{574F20A4-E865-2423-673E-2D8E75BC50D9}"/>
              </a:ext>
            </a:extLst>
          </p:cNvPr>
          <p:cNvSpPr txBox="1"/>
          <p:nvPr/>
        </p:nvSpPr>
        <p:spPr>
          <a:xfrm>
            <a:off x="3703173" y="4157917"/>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bg1"/>
                </a:solidFill>
                <a:latin typeface="Arial"/>
                <a:ea typeface="Arial"/>
                <a:cs typeface="Arial"/>
                <a:sym typeface="Arial"/>
              </a:rPr>
              <a:t>Team Members</a:t>
            </a:r>
          </a:p>
        </p:txBody>
      </p:sp>
      <p:sp>
        <p:nvSpPr>
          <p:cNvPr id="41" name="TextBox 40">
            <a:extLst>
              <a:ext uri="{FF2B5EF4-FFF2-40B4-BE49-F238E27FC236}">
                <a16:creationId xmlns:a16="http://schemas.microsoft.com/office/drawing/2014/main" id="{94658D58-B26B-B263-E4E7-719E9EA907D6}"/>
              </a:ext>
            </a:extLst>
          </p:cNvPr>
          <p:cNvSpPr txBox="1"/>
          <p:nvPr/>
        </p:nvSpPr>
        <p:spPr>
          <a:xfrm>
            <a:off x="3705805" y="4448284"/>
            <a:ext cx="2168784" cy="456535"/>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fi-FI" sz="1100" err="1">
                <a:solidFill>
                  <a:schemeClr val="bg1"/>
                </a:solidFill>
              </a:rPr>
              <a:t>Priyanka</a:t>
            </a:r>
            <a:r>
              <a:rPr lang="fi-FI" sz="1100">
                <a:solidFill>
                  <a:schemeClr val="bg1"/>
                </a:solidFill>
              </a:rPr>
              <a:t> </a:t>
            </a:r>
            <a:r>
              <a:rPr lang="fi-FI" sz="1100" err="1">
                <a:solidFill>
                  <a:schemeClr val="bg1"/>
                </a:solidFill>
              </a:rPr>
              <a:t>Vijay</a:t>
            </a:r>
            <a:r>
              <a:rPr lang="fi-FI" sz="1100">
                <a:solidFill>
                  <a:schemeClr val="bg1"/>
                </a:solidFill>
              </a:rPr>
              <a:t> </a:t>
            </a:r>
            <a:r>
              <a:rPr lang="fi-FI" sz="1100" err="1">
                <a:solidFill>
                  <a:schemeClr val="bg1"/>
                </a:solidFill>
              </a:rPr>
              <a:t>shamatkar</a:t>
            </a:r>
            <a:endParaRPr lang="en-US" err="1">
              <a:solidFill>
                <a:schemeClr val="bg1"/>
              </a:solidFill>
            </a:endParaRPr>
          </a:p>
          <a:p>
            <a:pPr marL="228600" indent="-228600">
              <a:spcAft>
                <a:spcPts val="200"/>
              </a:spcAft>
              <a:buClr>
                <a:schemeClr val="bg1"/>
              </a:buClr>
              <a:buAutoNum type="arabicPeriod"/>
            </a:pPr>
            <a:r>
              <a:rPr lang="fi-FI" sz="1100" err="1">
                <a:solidFill>
                  <a:schemeClr val="bg1"/>
                </a:solidFill>
              </a:rPr>
              <a:t>Kamlesh</a:t>
            </a:r>
            <a:r>
              <a:rPr lang="fi-FI" sz="1100">
                <a:solidFill>
                  <a:schemeClr val="bg1"/>
                </a:solidFill>
              </a:rPr>
              <a:t> Singh</a:t>
            </a:r>
          </a:p>
        </p:txBody>
      </p:sp>
      <p:cxnSp>
        <p:nvCxnSpPr>
          <p:cNvPr id="42" name="Straight Connector 41">
            <a:extLst>
              <a:ext uri="{FF2B5EF4-FFF2-40B4-BE49-F238E27FC236}">
                <a16:creationId xmlns:a16="http://schemas.microsoft.com/office/drawing/2014/main" id="{DDA9C646-678B-4CA4-AAF5-5A0CA4DB2AC5}"/>
              </a:ext>
            </a:extLst>
          </p:cNvPr>
          <p:cNvCxnSpPr>
            <a:cxnSpLocks/>
          </p:cNvCxnSpPr>
          <p:nvPr/>
        </p:nvCxnSpPr>
        <p:spPr>
          <a:xfrm>
            <a:off x="3799761" y="4434876"/>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sp>
        <p:nvSpPr>
          <p:cNvPr id="44" name="Google Shape;70;p13">
            <a:extLst>
              <a:ext uri="{FF2B5EF4-FFF2-40B4-BE49-F238E27FC236}">
                <a16:creationId xmlns:a16="http://schemas.microsoft.com/office/drawing/2014/main" id="{43C0C02E-B24A-392F-8483-77C0267C88E1}"/>
              </a:ext>
            </a:extLst>
          </p:cNvPr>
          <p:cNvSpPr txBox="1"/>
          <p:nvPr/>
        </p:nvSpPr>
        <p:spPr>
          <a:xfrm>
            <a:off x="6607160" y="4171325"/>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bg1"/>
                </a:solidFill>
                <a:latin typeface="Arial"/>
                <a:ea typeface="Arial"/>
                <a:cs typeface="Arial"/>
                <a:sym typeface="Arial"/>
              </a:rPr>
              <a:t>Guided by</a:t>
            </a:r>
          </a:p>
        </p:txBody>
      </p:sp>
      <p:sp>
        <p:nvSpPr>
          <p:cNvPr id="45" name="TextBox 44">
            <a:extLst>
              <a:ext uri="{FF2B5EF4-FFF2-40B4-BE49-F238E27FC236}">
                <a16:creationId xmlns:a16="http://schemas.microsoft.com/office/drawing/2014/main" id="{5F6B4A00-040F-FDB6-2131-846EB7188C53}"/>
              </a:ext>
            </a:extLst>
          </p:cNvPr>
          <p:cNvSpPr txBox="1"/>
          <p:nvPr/>
        </p:nvSpPr>
        <p:spPr>
          <a:xfrm>
            <a:off x="6609792" y="4461692"/>
            <a:ext cx="2168784" cy="261610"/>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en-US" sz="1100">
                <a:solidFill>
                  <a:schemeClr val="bg1"/>
                </a:solidFill>
              </a:rPr>
              <a:t>Name</a:t>
            </a:r>
            <a:endParaRPr lang="fi-FI" sz="1100">
              <a:solidFill>
                <a:schemeClr val="bg1"/>
              </a:solidFill>
            </a:endParaRPr>
          </a:p>
        </p:txBody>
      </p:sp>
      <p:cxnSp>
        <p:nvCxnSpPr>
          <p:cNvPr id="46" name="Straight Connector 45">
            <a:extLst>
              <a:ext uri="{FF2B5EF4-FFF2-40B4-BE49-F238E27FC236}">
                <a16:creationId xmlns:a16="http://schemas.microsoft.com/office/drawing/2014/main" id="{7C930180-14D0-979F-80DC-202E3B74AD60}"/>
              </a:ext>
            </a:extLst>
          </p:cNvPr>
          <p:cNvCxnSpPr>
            <a:cxnSpLocks/>
          </p:cNvCxnSpPr>
          <p:nvPr/>
        </p:nvCxnSpPr>
        <p:spPr>
          <a:xfrm>
            <a:off x="6703748" y="4448284"/>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242FDAC4-AE27-C374-87FA-1488045722F0}"/>
              </a:ext>
            </a:extLst>
          </p:cNvPr>
          <p:cNvGrpSpPr/>
          <p:nvPr/>
        </p:nvGrpSpPr>
        <p:grpSpPr>
          <a:xfrm>
            <a:off x="1326140" y="1215495"/>
            <a:ext cx="3608846" cy="660460"/>
            <a:chOff x="1516338" y="1159739"/>
            <a:chExt cx="3608846" cy="660460"/>
          </a:xfrm>
        </p:grpSpPr>
        <p:cxnSp>
          <p:nvCxnSpPr>
            <p:cNvPr id="48" name="Straight Connector 47">
              <a:extLst>
                <a:ext uri="{FF2B5EF4-FFF2-40B4-BE49-F238E27FC236}">
                  <a16:creationId xmlns:a16="http://schemas.microsoft.com/office/drawing/2014/main" id="{E7602FD7-B850-30FC-6F11-B26765319CF5}"/>
                </a:ext>
              </a:extLst>
            </p:cNvPr>
            <p:cNvCxnSpPr>
              <a:cxnSpLocks/>
            </p:cNvCxnSpPr>
            <p:nvPr/>
          </p:nvCxnSpPr>
          <p:spPr>
            <a:xfrm>
              <a:off x="3969406"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49" name="Google Shape;110;p4" descr="A close up of a sign&#10;&#10;Description automatically generated">
              <a:extLst>
                <a:ext uri="{FF2B5EF4-FFF2-40B4-BE49-F238E27FC236}">
                  <a16:creationId xmlns:a16="http://schemas.microsoft.com/office/drawing/2014/main" id="{321F3B6E-D5C9-7BFA-7BDB-50FF890BB654}"/>
                </a:ext>
              </a:extLst>
            </p:cNvPr>
            <p:cNvPicPr preferRelativeResize="0"/>
            <p:nvPr/>
          </p:nvPicPr>
          <p:blipFill rotWithShape="1">
            <a:blip r:embed="rId9">
              <a:alphaModFix/>
            </a:blip>
            <a:srcRect/>
            <a:stretch/>
          </p:blipFill>
          <p:spPr>
            <a:xfrm>
              <a:off x="4237873" y="1341787"/>
              <a:ext cx="887311" cy="296622"/>
            </a:xfrm>
            <a:prstGeom prst="rect">
              <a:avLst/>
            </a:prstGeom>
            <a:noFill/>
            <a:ln>
              <a:noFill/>
            </a:ln>
          </p:spPr>
        </p:pic>
        <p:pic>
          <p:nvPicPr>
            <p:cNvPr id="50" name="Picture 49">
              <a:extLst>
                <a:ext uri="{FF2B5EF4-FFF2-40B4-BE49-F238E27FC236}">
                  <a16:creationId xmlns:a16="http://schemas.microsoft.com/office/drawing/2014/main" id="{E97570DF-6F54-74D9-731F-612CF788DA56}"/>
                </a:ext>
              </a:extLst>
            </p:cNvPr>
            <p:cNvPicPr/>
            <p:nvPr/>
          </p:nvPicPr>
          <p:blipFill>
            <a:blip r:embed="rId10"/>
            <a:stretch/>
          </p:blipFill>
          <p:spPr>
            <a:xfrm>
              <a:off x="1516338" y="1351451"/>
              <a:ext cx="1069048" cy="277034"/>
            </a:xfrm>
            <a:prstGeom prst="rect">
              <a:avLst/>
            </a:prstGeom>
            <a:ln w="0">
              <a:noFill/>
            </a:ln>
          </p:spPr>
        </p:pic>
        <p:cxnSp>
          <p:nvCxnSpPr>
            <p:cNvPr id="51" name="Straight Connector 50">
              <a:extLst>
                <a:ext uri="{FF2B5EF4-FFF2-40B4-BE49-F238E27FC236}">
                  <a16:creationId xmlns:a16="http://schemas.microsoft.com/office/drawing/2014/main" id="{C2C4709E-5DC8-3087-4DFF-5FD21D1AA1BA}"/>
                </a:ext>
              </a:extLst>
            </p:cNvPr>
            <p:cNvCxnSpPr>
              <a:cxnSpLocks/>
            </p:cNvCxnSpPr>
            <p:nvPr/>
          </p:nvCxnSpPr>
          <p:spPr>
            <a:xfrm>
              <a:off x="2615873"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52" name="Picture 51" descr="A logo with tools in a circle&#10;&#10;Description automatically generated">
              <a:extLst>
                <a:ext uri="{FF2B5EF4-FFF2-40B4-BE49-F238E27FC236}">
                  <a16:creationId xmlns:a16="http://schemas.microsoft.com/office/drawing/2014/main" id="{D5514759-EB9F-E36E-1FFF-E3E7F1E44AE5}"/>
                </a:ext>
              </a:extLst>
            </p:cNvPr>
            <p:cNvPicPr>
              <a:picLocks noChangeAspect="1"/>
            </p:cNvPicPr>
            <p:nvPr/>
          </p:nvPicPr>
          <p:blipFill>
            <a:blip r:embed="rId11"/>
            <a:stretch>
              <a:fillRect/>
            </a:stretch>
          </p:blipFill>
          <p:spPr>
            <a:xfrm>
              <a:off x="2993928" y="1159739"/>
              <a:ext cx="658966" cy="660460"/>
            </a:xfrm>
            <a:prstGeom prst="rect">
              <a:avLst/>
            </a:prstGeom>
          </p:spPr>
        </p:pic>
      </p:grpSp>
      <p:sp>
        <p:nvSpPr>
          <p:cNvPr id="26" name="Rectangle 25">
            <a:extLst>
              <a:ext uri="{FF2B5EF4-FFF2-40B4-BE49-F238E27FC236}">
                <a16:creationId xmlns:a16="http://schemas.microsoft.com/office/drawing/2014/main" id="{004FD7DB-3845-4DDA-A710-DBA11118C531}"/>
              </a:ext>
            </a:extLst>
          </p:cNvPr>
          <p:cNvSpPr/>
          <p:nvPr/>
        </p:nvSpPr>
        <p:spPr>
          <a:xfrm>
            <a:off x="8839" y="11575"/>
            <a:ext cx="9144000" cy="51435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group of people sitting around a table&#10;&#10;Description automatically generated">
            <a:extLst>
              <a:ext uri="{FF2B5EF4-FFF2-40B4-BE49-F238E27FC236}">
                <a16:creationId xmlns:a16="http://schemas.microsoft.com/office/drawing/2014/main" id="{1C6A7DA5-F5F3-4CA6-A0C8-F6CA58A4E10E}"/>
              </a:ext>
            </a:extLst>
          </p:cNvPr>
          <p:cNvPicPr>
            <a:picLocks noChangeAspect="1"/>
          </p:cNvPicPr>
          <p:nvPr/>
        </p:nvPicPr>
        <p:blipFill rotWithShape="1">
          <a:blip r:embed="rId3"/>
          <a:srcRect r="27854" b="25110"/>
          <a:stretch/>
        </p:blipFill>
        <p:spPr>
          <a:xfrm>
            <a:off x="3600815" y="0"/>
            <a:ext cx="5563599" cy="3851975"/>
          </a:xfrm>
          <a:prstGeom prst="rect">
            <a:avLst/>
          </a:prstGeom>
        </p:spPr>
      </p:pic>
      <p:grpSp>
        <p:nvGrpSpPr>
          <p:cNvPr id="28" name="Group 6">
            <a:extLst>
              <a:ext uri="{FF2B5EF4-FFF2-40B4-BE49-F238E27FC236}">
                <a16:creationId xmlns:a16="http://schemas.microsoft.com/office/drawing/2014/main" id="{C82CBA62-2200-4BA5-9AB1-1B2CDC1A4C4C}"/>
              </a:ext>
            </a:extLst>
          </p:cNvPr>
          <p:cNvGrpSpPr/>
          <p:nvPr/>
        </p:nvGrpSpPr>
        <p:grpSpPr>
          <a:xfrm>
            <a:off x="171218" y="242720"/>
            <a:ext cx="5347819" cy="2630034"/>
            <a:chOff x="-30164" y="-47625"/>
            <a:chExt cx="1548591" cy="761590"/>
          </a:xfrm>
        </p:grpSpPr>
        <p:sp>
          <p:nvSpPr>
            <p:cNvPr id="29" name="Freeform 7">
              <a:extLst>
                <a:ext uri="{FF2B5EF4-FFF2-40B4-BE49-F238E27FC236}">
                  <a16:creationId xmlns:a16="http://schemas.microsoft.com/office/drawing/2014/main" id="{0F76C787-569B-4395-9F12-E52190B23EB5}"/>
                </a:ext>
              </a:extLst>
            </p:cNvPr>
            <p:cNvSpPr/>
            <p:nvPr/>
          </p:nvSpPr>
          <p:spPr>
            <a:xfrm>
              <a:off x="-30164" y="0"/>
              <a:ext cx="1548591" cy="713965"/>
            </a:xfrm>
            <a:custGeom>
              <a:avLst/>
              <a:gdLst/>
              <a:ahLst/>
              <a:cxnLst/>
              <a:rect l="l" t="t" r="r" b="b"/>
              <a:pathLst>
                <a:path w="1223699" h="713965">
                  <a:moveTo>
                    <a:pt x="0" y="0"/>
                  </a:moveTo>
                  <a:lnTo>
                    <a:pt x="1223699" y="0"/>
                  </a:lnTo>
                  <a:lnTo>
                    <a:pt x="1223699" y="713965"/>
                  </a:lnTo>
                  <a:lnTo>
                    <a:pt x="0" y="713965"/>
                  </a:lnTo>
                  <a:close/>
                </a:path>
              </a:pathLst>
            </a:custGeom>
            <a:solidFill>
              <a:srgbClr val="FFFFFF"/>
            </a:solidFill>
          </p:spPr>
          <p:txBody>
            <a:bodyPr/>
            <a:lstStyle/>
            <a:p>
              <a:endParaRPr lang="en-US" dirty="0"/>
            </a:p>
          </p:txBody>
        </p:sp>
        <p:sp>
          <p:nvSpPr>
            <p:cNvPr id="30" name="TextBox 8">
              <a:extLst>
                <a:ext uri="{FF2B5EF4-FFF2-40B4-BE49-F238E27FC236}">
                  <a16:creationId xmlns:a16="http://schemas.microsoft.com/office/drawing/2014/main" id="{70C0CFEA-AF25-4861-951D-43FB4A14E012}"/>
                </a:ext>
              </a:extLst>
            </p:cNvPr>
            <p:cNvSpPr txBox="1"/>
            <p:nvPr/>
          </p:nvSpPr>
          <p:spPr>
            <a:xfrm>
              <a:off x="0" y="-47625"/>
              <a:ext cx="1223699" cy="761589"/>
            </a:xfrm>
            <a:prstGeom prst="rect">
              <a:avLst/>
            </a:prstGeom>
          </p:spPr>
          <p:txBody>
            <a:bodyPr lIns="50800" tIns="50800" rIns="50800" bIns="50800" rtlCol="0" anchor="ctr"/>
            <a:lstStyle/>
            <a:p>
              <a:pPr algn="ctr">
                <a:lnSpc>
                  <a:spcPts val="2239"/>
                </a:lnSpc>
              </a:pPr>
              <a:endParaRPr/>
            </a:p>
          </p:txBody>
        </p:sp>
      </p:grpSp>
      <p:grpSp>
        <p:nvGrpSpPr>
          <p:cNvPr id="31" name="Group 9">
            <a:extLst>
              <a:ext uri="{FF2B5EF4-FFF2-40B4-BE49-F238E27FC236}">
                <a16:creationId xmlns:a16="http://schemas.microsoft.com/office/drawing/2014/main" id="{D5B69D72-B895-4BA5-A8BF-53CFB59D9C92}"/>
              </a:ext>
            </a:extLst>
          </p:cNvPr>
          <p:cNvGrpSpPr/>
          <p:nvPr/>
        </p:nvGrpSpPr>
        <p:grpSpPr>
          <a:xfrm>
            <a:off x="635158" y="1319023"/>
            <a:ext cx="4820890" cy="773873"/>
            <a:chOff x="-117556" y="-72266"/>
            <a:chExt cx="1991689" cy="319716"/>
          </a:xfrm>
        </p:grpSpPr>
        <p:sp>
          <p:nvSpPr>
            <p:cNvPr id="32" name="Freeform 10">
              <a:extLst>
                <a:ext uri="{FF2B5EF4-FFF2-40B4-BE49-F238E27FC236}">
                  <a16:creationId xmlns:a16="http://schemas.microsoft.com/office/drawing/2014/main" id="{606A87A0-9E8E-4AF2-B8DC-BFA426B51EE8}"/>
                </a:ext>
              </a:extLst>
            </p:cNvPr>
            <p:cNvSpPr/>
            <p:nvPr/>
          </p:nvSpPr>
          <p:spPr>
            <a:xfrm>
              <a:off x="-117556" y="-72266"/>
              <a:ext cx="1991689" cy="319716"/>
            </a:xfrm>
            <a:custGeom>
              <a:avLst/>
              <a:gdLst/>
              <a:ahLst/>
              <a:cxnLst/>
              <a:rect l="l" t="t" r="r" b="b"/>
              <a:pathLst>
                <a:path w="736235" h="178921">
                  <a:moveTo>
                    <a:pt x="0" y="0"/>
                  </a:moveTo>
                  <a:lnTo>
                    <a:pt x="736235" y="0"/>
                  </a:lnTo>
                  <a:lnTo>
                    <a:pt x="736235" y="178921"/>
                  </a:lnTo>
                  <a:lnTo>
                    <a:pt x="0" y="178921"/>
                  </a:lnTo>
                  <a:close/>
                </a:path>
              </a:pathLst>
            </a:custGeom>
            <a:solidFill>
              <a:srgbClr val="E8ECF8"/>
            </a:solidFill>
            <a:ln cap="sq">
              <a:noFill/>
              <a:prstDash val="solid"/>
              <a:miter/>
            </a:ln>
          </p:spPr>
          <p:txBody>
            <a:bodyPr/>
            <a:lstStyle/>
            <a:p>
              <a:endParaRPr lang="en-US"/>
            </a:p>
          </p:txBody>
        </p:sp>
        <p:sp>
          <p:nvSpPr>
            <p:cNvPr id="33" name="TextBox 11">
              <a:extLst>
                <a:ext uri="{FF2B5EF4-FFF2-40B4-BE49-F238E27FC236}">
                  <a16:creationId xmlns:a16="http://schemas.microsoft.com/office/drawing/2014/main" id="{FB8F9259-0D8C-4760-BC82-B38ACD150967}"/>
                </a:ext>
              </a:extLst>
            </p:cNvPr>
            <p:cNvSpPr txBox="1"/>
            <p:nvPr/>
          </p:nvSpPr>
          <p:spPr>
            <a:xfrm>
              <a:off x="0" y="-66675"/>
              <a:ext cx="736235" cy="245596"/>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36" name="Freeform 13">
            <a:extLst>
              <a:ext uri="{FF2B5EF4-FFF2-40B4-BE49-F238E27FC236}">
                <a16:creationId xmlns:a16="http://schemas.microsoft.com/office/drawing/2014/main" id="{8306C9DD-8020-43B2-8576-BDE8E97259C0}"/>
              </a:ext>
            </a:extLst>
          </p:cNvPr>
          <p:cNvSpPr/>
          <p:nvPr/>
        </p:nvSpPr>
        <p:spPr>
          <a:xfrm>
            <a:off x="1792457" y="11774"/>
            <a:ext cx="1032349" cy="451764"/>
          </a:xfrm>
          <a:custGeom>
            <a:avLst/>
            <a:gdLst/>
            <a:ahLst/>
            <a:cxnLst/>
            <a:rect l="l" t="t" r="r" b="b"/>
            <a:pathLst>
              <a:path w="2102123" h="919905">
                <a:moveTo>
                  <a:pt x="0" y="0"/>
                </a:moveTo>
                <a:lnTo>
                  <a:pt x="2102123" y="0"/>
                </a:lnTo>
                <a:lnTo>
                  <a:pt x="2102123" y="919905"/>
                </a:lnTo>
                <a:lnTo>
                  <a:pt x="0" y="919905"/>
                </a:lnTo>
                <a:lnTo>
                  <a:pt x="0" y="0"/>
                </a:lnTo>
                <a:close/>
              </a:path>
            </a:pathLst>
          </a:custGeom>
          <a:blipFill dpi="0" rotWithShape="1">
            <a:blip r:embed="rId4">
              <a:alphaModFix amt="32000"/>
              <a:extLst>
                <a:ext uri="{96DAC541-7B7A-43D3-8B79-37D633B846F1}">
                  <asvg:svgBlip xmlns:asvg="http://schemas.microsoft.com/office/drawing/2016/SVG/main" r:embed="rId5"/>
                </a:ext>
              </a:extLst>
            </a:blip>
            <a:srcRect/>
            <a:stretch>
              <a:fillRect t="-106728" r="-65303"/>
            </a:stretch>
          </a:blipFill>
        </p:spPr>
        <p:txBody>
          <a:bodyPr/>
          <a:lstStyle/>
          <a:p>
            <a:endParaRPr lang="en-US"/>
          </a:p>
        </p:txBody>
      </p:sp>
      <p:sp>
        <p:nvSpPr>
          <p:cNvPr id="38" name="Freeform 14">
            <a:extLst>
              <a:ext uri="{FF2B5EF4-FFF2-40B4-BE49-F238E27FC236}">
                <a16:creationId xmlns:a16="http://schemas.microsoft.com/office/drawing/2014/main" id="{91DF8EB4-7568-4CA3-9055-DF1CD5ADA4A4}"/>
              </a:ext>
            </a:extLst>
          </p:cNvPr>
          <p:cNvSpPr/>
          <p:nvPr/>
        </p:nvSpPr>
        <p:spPr>
          <a:xfrm>
            <a:off x="160486" y="104668"/>
            <a:ext cx="770970" cy="773872"/>
          </a:xfrm>
          <a:custGeom>
            <a:avLst/>
            <a:gdLst/>
            <a:ahLst/>
            <a:cxnLst/>
            <a:rect l="l" t="t" r="r" b="b"/>
            <a:pathLst>
              <a:path w="1569889" h="1575798">
                <a:moveTo>
                  <a:pt x="0" y="0"/>
                </a:moveTo>
                <a:lnTo>
                  <a:pt x="1569889" y="0"/>
                </a:lnTo>
                <a:lnTo>
                  <a:pt x="1569889" y="1575798"/>
                </a:lnTo>
                <a:lnTo>
                  <a:pt x="0" y="1575798"/>
                </a:lnTo>
                <a:lnTo>
                  <a:pt x="0" y="0"/>
                </a:lnTo>
                <a:close/>
              </a:path>
            </a:pathLst>
          </a:custGeom>
          <a:blipFill dpi="0" rotWithShape="1">
            <a:blip r:embed="rId6">
              <a:alphaModFix amt="30000"/>
              <a:extLst>
                <a:ext uri="{96DAC541-7B7A-43D3-8B79-37D633B846F1}">
                  <asvg:svgBlip xmlns:asvg="http://schemas.microsoft.com/office/drawing/2016/SVG/main" r:embed="rId7"/>
                </a:ext>
              </a:extLst>
            </a:blip>
            <a:srcRect/>
            <a:stretch>
              <a:fillRect/>
            </a:stretch>
          </a:blipFill>
        </p:spPr>
        <p:txBody>
          <a:bodyPr/>
          <a:lstStyle/>
          <a:p>
            <a:endParaRPr lang="en-US"/>
          </a:p>
        </p:txBody>
      </p:sp>
      <p:sp>
        <p:nvSpPr>
          <p:cNvPr id="43" name="TextBox 42">
            <a:extLst>
              <a:ext uri="{FF2B5EF4-FFF2-40B4-BE49-F238E27FC236}">
                <a16:creationId xmlns:a16="http://schemas.microsoft.com/office/drawing/2014/main" id="{26BD3948-74C3-4C73-9AD2-6DD70AB01DB4}"/>
              </a:ext>
            </a:extLst>
          </p:cNvPr>
          <p:cNvSpPr txBox="1"/>
          <p:nvPr/>
        </p:nvSpPr>
        <p:spPr>
          <a:xfrm>
            <a:off x="909372" y="2223984"/>
            <a:ext cx="4644783" cy="400110"/>
          </a:xfrm>
          <a:prstGeom prst="rect">
            <a:avLst/>
          </a:prstGeom>
          <a:noFill/>
        </p:spPr>
        <p:txBody>
          <a:bodyPr wrap="square" lIns="91440" tIns="45720" rIns="91440" bIns="45720" rtlCol="0" anchor="t">
            <a:spAutoFit/>
          </a:bodyPr>
          <a:lstStyle/>
          <a:p>
            <a:pPr algn="just"/>
            <a:r>
              <a:rPr lang="en-US" sz="2000" b="1" dirty="0">
                <a:solidFill>
                  <a:schemeClr val="tx1"/>
                </a:solidFill>
              </a:rPr>
              <a:t>Plastic Type Identification System</a:t>
            </a:r>
          </a:p>
        </p:txBody>
      </p:sp>
      <p:pic>
        <p:nvPicPr>
          <p:cNvPr id="47" name="Picture 46" descr="A group of people looking at a computer&#10;&#10;Description automatically generated">
            <a:extLst>
              <a:ext uri="{FF2B5EF4-FFF2-40B4-BE49-F238E27FC236}">
                <a16:creationId xmlns:a16="http://schemas.microsoft.com/office/drawing/2014/main" id="{2963A1B6-109C-4D87-9D83-68F82877395D}"/>
              </a:ext>
            </a:extLst>
          </p:cNvPr>
          <p:cNvPicPr>
            <a:picLocks noChangeAspect="1"/>
          </p:cNvPicPr>
          <p:nvPr/>
        </p:nvPicPr>
        <p:blipFill rotWithShape="1">
          <a:blip r:embed="rId8"/>
          <a:srcRect t="62443" r="30604" b="14243"/>
          <a:stretch/>
        </p:blipFill>
        <p:spPr>
          <a:xfrm>
            <a:off x="0" y="3967840"/>
            <a:ext cx="3569383" cy="1199146"/>
          </a:xfrm>
          <a:prstGeom prst="rect">
            <a:avLst/>
          </a:prstGeom>
        </p:spPr>
      </p:pic>
      <p:sp>
        <p:nvSpPr>
          <p:cNvPr id="54" name="Google Shape;70;p13">
            <a:extLst>
              <a:ext uri="{FF2B5EF4-FFF2-40B4-BE49-F238E27FC236}">
                <a16:creationId xmlns:a16="http://schemas.microsoft.com/office/drawing/2014/main" id="{FAC8E99A-2B00-44A8-B4FD-3D1F03BA5438}"/>
              </a:ext>
            </a:extLst>
          </p:cNvPr>
          <p:cNvSpPr txBox="1"/>
          <p:nvPr/>
        </p:nvSpPr>
        <p:spPr>
          <a:xfrm>
            <a:off x="3712012" y="4169492"/>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bg1"/>
                </a:solidFill>
                <a:latin typeface="Arial"/>
                <a:ea typeface="Arial"/>
                <a:cs typeface="Arial"/>
                <a:sym typeface="Arial"/>
              </a:rPr>
              <a:t>Team Members</a:t>
            </a:r>
          </a:p>
        </p:txBody>
      </p:sp>
      <p:sp>
        <p:nvSpPr>
          <p:cNvPr id="55" name="TextBox 54">
            <a:extLst>
              <a:ext uri="{FF2B5EF4-FFF2-40B4-BE49-F238E27FC236}">
                <a16:creationId xmlns:a16="http://schemas.microsoft.com/office/drawing/2014/main" id="{47419773-0BDD-4D7E-8C1A-A9BA9476345F}"/>
              </a:ext>
            </a:extLst>
          </p:cNvPr>
          <p:cNvSpPr txBox="1"/>
          <p:nvPr/>
        </p:nvSpPr>
        <p:spPr>
          <a:xfrm>
            <a:off x="3714644" y="4459859"/>
            <a:ext cx="2168784" cy="600164"/>
          </a:xfrm>
          <a:prstGeom prst="rect">
            <a:avLst/>
          </a:prstGeom>
          <a:noFill/>
        </p:spPr>
        <p:txBody>
          <a:bodyPr wrap="square" lIns="91440" tIns="45720" rIns="91440" bIns="45720" anchor="t">
            <a:spAutoFit/>
          </a:bodyPr>
          <a:lstStyle/>
          <a:p>
            <a:pPr>
              <a:spcAft>
                <a:spcPts val="200"/>
              </a:spcAft>
              <a:buClr>
                <a:schemeClr val="bg1"/>
              </a:buClr>
            </a:pPr>
            <a:r>
              <a:rPr lang="pt-BR" sz="1100" dirty="0">
                <a:solidFill>
                  <a:schemeClr val="bg1"/>
                </a:solidFill>
              </a:rPr>
              <a:t>Soumita Das</a:t>
            </a:r>
            <a:br>
              <a:rPr lang="pt-BR" sz="1100" dirty="0">
                <a:solidFill>
                  <a:schemeClr val="bg1"/>
                </a:solidFill>
              </a:rPr>
            </a:br>
            <a:r>
              <a:rPr lang="pt-BR" sz="1100" dirty="0">
                <a:solidFill>
                  <a:schemeClr val="bg1"/>
                </a:solidFill>
              </a:rPr>
              <a:t>Rupa Kundu</a:t>
            </a:r>
            <a:br>
              <a:rPr lang="pt-BR" sz="1100" dirty="0">
                <a:solidFill>
                  <a:schemeClr val="bg1"/>
                </a:solidFill>
              </a:rPr>
            </a:br>
            <a:r>
              <a:rPr lang="pt-BR" sz="1100" dirty="0">
                <a:solidFill>
                  <a:schemeClr val="bg1"/>
                </a:solidFill>
              </a:rPr>
              <a:t>Debanjana Sarkar</a:t>
            </a:r>
            <a:endParaRPr lang="fi-FI" sz="1100" dirty="0">
              <a:solidFill>
                <a:schemeClr val="bg1"/>
              </a:solidFill>
            </a:endParaRPr>
          </a:p>
        </p:txBody>
      </p:sp>
      <p:cxnSp>
        <p:nvCxnSpPr>
          <p:cNvPr id="56" name="Straight Connector 55">
            <a:extLst>
              <a:ext uri="{FF2B5EF4-FFF2-40B4-BE49-F238E27FC236}">
                <a16:creationId xmlns:a16="http://schemas.microsoft.com/office/drawing/2014/main" id="{7AFFA9BB-A0A2-4712-B307-9FF58877B2C5}"/>
              </a:ext>
            </a:extLst>
          </p:cNvPr>
          <p:cNvCxnSpPr>
            <a:cxnSpLocks/>
          </p:cNvCxnSpPr>
          <p:nvPr/>
        </p:nvCxnSpPr>
        <p:spPr>
          <a:xfrm>
            <a:off x="3808600" y="4446451"/>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sp>
        <p:nvSpPr>
          <p:cNvPr id="57" name="Google Shape;70;p13">
            <a:extLst>
              <a:ext uri="{FF2B5EF4-FFF2-40B4-BE49-F238E27FC236}">
                <a16:creationId xmlns:a16="http://schemas.microsoft.com/office/drawing/2014/main" id="{B9C20BB9-B48A-4347-8BC7-3408694E6843}"/>
              </a:ext>
            </a:extLst>
          </p:cNvPr>
          <p:cNvSpPr txBox="1"/>
          <p:nvPr/>
        </p:nvSpPr>
        <p:spPr>
          <a:xfrm>
            <a:off x="6615999" y="4182900"/>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bg1"/>
                </a:solidFill>
                <a:latin typeface="Arial"/>
                <a:ea typeface="Arial"/>
                <a:cs typeface="Arial"/>
                <a:sym typeface="Arial"/>
              </a:rPr>
              <a:t>Guided by</a:t>
            </a:r>
          </a:p>
        </p:txBody>
      </p:sp>
      <p:sp>
        <p:nvSpPr>
          <p:cNvPr id="58" name="TextBox 57">
            <a:extLst>
              <a:ext uri="{FF2B5EF4-FFF2-40B4-BE49-F238E27FC236}">
                <a16:creationId xmlns:a16="http://schemas.microsoft.com/office/drawing/2014/main" id="{8DBD90FA-24C3-43B4-9258-7BA930E535E9}"/>
              </a:ext>
            </a:extLst>
          </p:cNvPr>
          <p:cNvSpPr txBox="1"/>
          <p:nvPr/>
        </p:nvSpPr>
        <p:spPr>
          <a:xfrm>
            <a:off x="6618631" y="4473267"/>
            <a:ext cx="2168784" cy="261610"/>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en-US" sz="1100">
                <a:solidFill>
                  <a:schemeClr val="bg1"/>
                </a:solidFill>
              </a:rPr>
              <a:t>Arpita </a:t>
            </a:r>
            <a:r>
              <a:rPr lang="en-US" sz="1100" dirty="0">
                <a:solidFill>
                  <a:schemeClr val="bg1"/>
                </a:solidFill>
              </a:rPr>
              <a:t>Roy</a:t>
            </a:r>
            <a:endParaRPr lang="fi-FI" sz="1100" dirty="0">
              <a:solidFill>
                <a:schemeClr val="bg1"/>
              </a:solidFill>
            </a:endParaRPr>
          </a:p>
        </p:txBody>
      </p:sp>
      <p:cxnSp>
        <p:nvCxnSpPr>
          <p:cNvPr id="59" name="Straight Connector 58">
            <a:extLst>
              <a:ext uri="{FF2B5EF4-FFF2-40B4-BE49-F238E27FC236}">
                <a16:creationId xmlns:a16="http://schemas.microsoft.com/office/drawing/2014/main" id="{7C7B56E4-1ECC-4AA4-90EF-081EA5869961}"/>
              </a:ext>
            </a:extLst>
          </p:cNvPr>
          <p:cNvCxnSpPr>
            <a:cxnSpLocks/>
          </p:cNvCxnSpPr>
          <p:nvPr/>
        </p:nvCxnSpPr>
        <p:spPr>
          <a:xfrm>
            <a:off x="6712587" y="4473267"/>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ACF3E6FC-A675-4062-B2F0-0FB70C438AB1}"/>
              </a:ext>
            </a:extLst>
          </p:cNvPr>
          <p:cNvGrpSpPr/>
          <p:nvPr/>
        </p:nvGrpSpPr>
        <p:grpSpPr>
          <a:xfrm>
            <a:off x="1334979" y="1227070"/>
            <a:ext cx="3608846" cy="660460"/>
            <a:chOff x="1516338" y="1159739"/>
            <a:chExt cx="3608846" cy="660460"/>
          </a:xfrm>
        </p:grpSpPr>
        <p:cxnSp>
          <p:nvCxnSpPr>
            <p:cNvPr id="61" name="Straight Connector 60">
              <a:extLst>
                <a:ext uri="{FF2B5EF4-FFF2-40B4-BE49-F238E27FC236}">
                  <a16:creationId xmlns:a16="http://schemas.microsoft.com/office/drawing/2014/main" id="{0654F774-32C5-4DD9-B669-E64A613508DA}"/>
                </a:ext>
              </a:extLst>
            </p:cNvPr>
            <p:cNvCxnSpPr>
              <a:cxnSpLocks/>
            </p:cNvCxnSpPr>
            <p:nvPr/>
          </p:nvCxnSpPr>
          <p:spPr>
            <a:xfrm>
              <a:off x="3969406"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62" name="Google Shape;110;p4" descr="A close up of a sign&#10;&#10;Description automatically generated">
              <a:extLst>
                <a:ext uri="{FF2B5EF4-FFF2-40B4-BE49-F238E27FC236}">
                  <a16:creationId xmlns:a16="http://schemas.microsoft.com/office/drawing/2014/main" id="{EE3A960A-126A-4C8D-AEE2-0DDE7C7C6E65}"/>
                </a:ext>
              </a:extLst>
            </p:cNvPr>
            <p:cNvPicPr preferRelativeResize="0"/>
            <p:nvPr/>
          </p:nvPicPr>
          <p:blipFill rotWithShape="1">
            <a:blip r:embed="rId9">
              <a:alphaModFix/>
            </a:blip>
            <a:srcRect/>
            <a:stretch/>
          </p:blipFill>
          <p:spPr>
            <a:xfrm>
              <a:off x="4237873" y="1341787"/>
              <a:ext cx="887311" cy="296622"/>
            </a:xfrm>
            <a:prstGeom prst="rect">
              <a:avLst/>
            </a:prstGeom>
            <a:noFill/>
            <a:ln>
              <a:noFill/>
            </a:ln>
          </p:spPr>
        </p:pic>
        <p:pic>
          <p:nvPicPr>
            <p:cNvPr id="63" name="Picture 62">
              <a:extLst>
                <a:ext uri="{FF2B5EF4-FFF2-40B4-BE49-F238E27FC236}">
                  <a16:creationId xmlns:a16="http://schemas.microsoft.com/office/drawing/2014/main" id="{48C48379-D7ED-4571-B51B-3BB6F80D3DE9}"/>
                </a:ext>
              </a:extLst>
            </p:cNvPr>
            <p:cNvPicPr/>
            <p:nvPr/>
          </p:nvPicPr>
          <p:blipFill>
            <a:blip r:embed="rId10"/>
            <a:stretch/>
          </p:blipFill>
          <p:spPr>
            <a:xfrm>
              <a:off x="1516338" y="1351451"/>
              <a:ext cx="1069048" cy="277034"/>
            </a:xfrm>
            <a:prstGeom prst="rect">
              <a:avLst/>
            </a:prstGeom>
            <a:ln w="0">
              <a:noFill/>
            </a:ln>
          </p:spPr>
        </p:pic>
        <p:cxnSp>
          <p:nvCxnSpPr>
            <p:cNvPr id="64" name="Straight Connector 63">
              <a:extLst>
                <a:ext uri="{FF2B5EF4-FFF2-40B4-BE49-F238E27FC236}">
                  <a16:creationId xmlns:a16="http://schemas.microsoft.com/office/drawing/2014/main" id="{06722F55-B288-4C4E-804E-2D9F2D6A0C5F}"/>
                </a:ext>
              </a:extLst>
            </p:cNvPr>
            <p:cNvCxnSpPr>
              <a:cxnSpLocks/>
            </p:cNvCxnSpPr>
            <p:nvPr/>
          </p:nvCxnSpPr>
          <p:spPr>
            <a:xfrm>
              <a:off x="2615873"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65" name="Picture 64" descr="A logo with tools in a circle&#10;&#10;Description automatically generated">
              <a:extLst>
                <a:ext uri="{FF2B5EF4-FFF2-40B4-BE49-F238E27FC236}">
                  <a16:creationId xmlns:a16="http://schemas.microsoft.com/office/drawing/2014/main" id="{359511DC-0D87-4869-8EC0-C530638CD602}"/>
                </a:ext>
              </a:extLst>
            </p:cNvPr>
            <p:cNvPicPr>
              <a:picLocks noChangeAspect="1"/>
            </p:cNvPicPr>
            <p:nvPr/>
          </p:nvPicPr>
          <p:blipFill>
            <a:blip r:embed="rId11"/>
            <a:stretch>
              <a:fillRect/>
            </a:stretch>
          </p:blipFill>
          <p:spPr>
            <a:xfrm>
              <a:off x="2993928" y="1159739"/>
              <a:ext cx="658966" cy="66046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143933" y="683683"/>
            <a:ext cx="4428068" cy="338554"/>
          </a:xfrm>
          <a:prstGeom prst="rect">
            <a:avLst/>
          </a:prstGeom>
          <a:noFill/>
        </p:spPr>
        <p:txBody>
          <a:bodyPr wrap="square">
            <a:spAutoFit/>
          </a:bodyPr>
          <a:lstStyle/>
          <a:p>
            <a:r>
              <a:rPr lang="en-IN" sz="1600" b="1">
                <a:solidFill>
                  <a:srgbClr val="213163"/>
                </a:solidFill>
              </a:rPr>
              <a:t>Problem Statement</a:t>
            </a:r>
            <a:endParaRPr lang="en-IN" sz="1600">
              <a:solidFill>
                <a:srgbClr val="213163"/>
              </a:solidFill>
            </a:endParaRPr>
          </a:p>
        </p:txBody>
      </p:sp>
      <p:sp>
        <p:nvSpPr>
          <p:cNvPr id="6" name="TextBox 5">
            <a:extLst>
              <a:ext uri="{FF2B5EF4-FFF2-40B4-BE49-F238E27FC236}">
                <a16:creationId xmlns:a16="http://schemas.microsoft.com/office/drawing/2014/main" id="{4E2510F8-EE68-4DB7-5481-38EDBC28EBB2}"/>
              </a:ext>
            </a:extLst>
          </p:cNvPr>
          <p:cNvSpPr txBox="1"/>
          <p:nvPr/>
        </p:nvSpPr>
        <p:spPr>
          <a:xfrm>
            <a:off x="134414" y="1133132"/>
            <a:ext cx="4413733" cy="2462213"/>
          </a:xfrm>
          <a:prstGeom prst="rect">
            <a:avLst/>
          </a:prstGeom>
          <a:noFill/>
        </p:spPr>
        <p:txBody>
          <a:bodyPr wrap="square" lIns="91440" tIns="45720" rIns="91440" bIns="45720" anchor="t">
            <a:spAutoFit/>
          </a:bodyPr>
          <a:lstStyle/>
          <a:p>
            <a:pPr algn="just"/>
            <a:r>
              <a:rPr lang="en-US" dirty="0"/>
              <a:t>• Different types of plastics are difficult to identify and classify because many plastic materials have similar colors, shapes, and appearances. This creates challenges in recycling centers and waste management systems where accurate sorting is important.</a:t>
            </a:r>
          </a:p>
          <a:p>
            <a:pPr algn="just"/>
            <a:r>
              <a:rPr lang="en-US" dirty="0"/>
              <a:t>• Manual plastic sorting and identification processes are time-consuming, costly, and prone to human errors. Incorrect classification reduces recycling efficiency, increases operational costs, and contributes to environmental pollution.</a:t>
            </a:r>
          </a:p>
        </p:txBody>
      </p:sp>
      <p:pic>
        <p:nvPicPr>
          <p:cNvPr id="7" name="Picture 6" descr="A cartoon of a person holding a book&#10;&#10;Description automatically generated">
            <a:extLst>
              <a:ext uri="{FF2B5EF4-FFF2-40B4-BE49-F238E27FC236}">
                <a16:creationId xmlns:a16="http://schemas.microsoft.com/office/drawing/2014/main" id="{27276879-51B0-342E-6B09-4EA7C9230A70}"/>
              </a:ext>
            </a:extLst>
          </p:cNvPr>
          <p:cNvPicPr>
            <a:picLocks noChangeAspect="1"/>
          </p:cNvPicPr>
          <p:nvPr/>
        </p:nvPicPr>
        <p:blipFill rotWithShape="1">
          <a:blip r:embed="rId3"/>
          <a:srcRect b="41075"/>
          <a:stretch/>
        </p:blipFill>
        <p:spPr>
          <a:xfrm>
            <a:off x="5112433" y="1147011"/>
            <a:ext cx="2351445" cy="3521243"/>
          </a:xfrm>
          <a:prstGeom prst="rect">
            <a:avLst/>
          </a:prstGeom>
        </p:spPr>
      </p:pic>
      <p:pic>
        <p:nvPicPr>
          <p:cNvPr id="8" name="Picture 7" descr="A blue question mark on a black background&#10;&#10;Description automatically generated">
            <a:extLst>
              <a:ext uri="{FF2B5EF4-FFF2-40B4-BE49-F238E27FC236}">
                <a16:creationId xmlns:a16="http://schemas.microsoft.com/office/drawing/2014/main" id="{AEF795B9-59D0-E5F1-B10D-DC58713F5459}"/>
              </a:ext>
            </a:extLst>
          </p:cNvPr>
          <p:cNvPicPr>
            <a:picLocks noChangeAspect="1"/>
          </p:cNvPicPr>
          <p:nvPr/>
        </p:nvPicPr>
        <p:blipFill>
          <a:blip r:embed="rId4"/>
          <a:stretch>
            <a:fillRect/>
          </a:stretch>
        </p:blipFill>
        <p:spPr>
          <a:xfrm>
            <a:off x="6575258" y="2627897"/>
            <a:ext cx="2260934" cy="2260934"/>
          </a:xfrm>
          <a:prstGeom prst="rect">
            <a:avLst/>
          </a:prstGeom>
        </p:spPr>
      </p:pic>
    </p:spTree>
    <p:extLst>
      <p:ext uri="{BB962C8B-B14F-4D97-AF65-F5344CB8AC3E}">
        <p14:creationId xmlns:p14="http://schemas.microsoft.com/office/powerpoint/2010/main" val="274604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4D5078D-F8F7-912B-4E9C-BED71500ACC2}"/>
              </a:ext>
            </a:extLst>
          </p:cNvPr>
          <p:cNvSpPr txBox="1"/>
          <p:nvPr/>
        </p:nvSpPr>
        <p:spPr>
          <a:xfrm>
            <a:off x="143933" y="683683"/>
            <a:ext cx="4428068" cy="338554"/>
          </a:xfrm>
          <a:prstGeom prst="rect">
            <a:avLst/>
          </a:prstGeom>
          <a:noFill/>
        </p:spPr>
        <p:txBody>
          <a:bodyPr wrap="square">
            <a:spAutoFit/>
          </a:bodyPr>
          <a:lstStyle/>
          <a:p>
            <a:r>
              <a:rPr lang="en-US" sz="1600" b="1">
                <a:solidFill>
                  <a:srgbClr val="002060"/>
                </a:solidFill>
                <a:latin typeface="Arial"/>
                <a:ea typeface="Arial"/>
                <a:cs typeface="Arial"/>
                <a:sym typeface="Arial"/>
              </a:rPr>
              <a:t>Solution</a:t>
            </a:r>
            <a:endParaRPr lang="en-IN" sz="1600">
              <a:solidFill>
                <a:srgbClr val="213163"/>
              </a:solidFill>
            </a:endParaRPr>
          </a:p>
        </p:txBody>
      </p:sp>
      <p:grpSp>
        <p:nvGrpSpPr>
          <p:cNvPr id="25" name="Group 24">
            <a:extLst>
              <a:ext uri="{FF2B5EF4-FFF2-40B4-BE49-F238E27FC236}">
                <a16:creationId xmlns:a16="http://schemas.microsoft.com/office/drawing/2014/main" id="{D00F2964-0D4F-F880-A09E-E7A62DA0D8AD}"/>
              </a:ext>
            </a:extLst>
          </p:cNvPr>
          <p:cNvGrpSpPr/>
          <p:nvPr/>
        </p:nvGrpSpPr>
        <p:grpSpPr>
          <a:xfrm>
            <a:off x="4957011" y="1136519"/>
            <a:ext cx="4296704" cy="3560273"/>
            <a:chOff x="4957011" y="1136519"/>
            <a:chExt cx="4296704" cy="3560273"/>
          </a:xfrm>
        </p:grpSpPr>
        <p:grpSp>
          <p:nvGrpSpPr>
            <p:cNvPr id="14" name="Group 13">
              <a:extLst>
                <a:ext uri="{FF2B5EF4-FFF2-40B4-BE49-F238E27FC236}">
                  <a16:creationId xmlns:a16="http://schemas.microsoft.com/office/drawing/2014/main" id="{4CBDDE1E-3117-B64C-BB4F-1DE4EAC4051A}"/>
                </a:ext>
              </a:extLst>
            </p:cNvPr>
            <p:cNvGrpSpPr/>
            <p:nvPr/>
          </p:nvGrpSpPr>
          <p:grpSpPr>
            <a:xfrm>
              <a:off x="5693442" y="1136519"/>
              <a:ext cx="3560273" cy="3560273"/>
              <a:chOff x="4955715" y="1142768"/>
              <a:chExt cx="3560273" cy="3560273"/>
            </a:xfrm>
          </p:grpSpPr>
          <p:pic>
            <p:nvPicPr>
              <p:cNvPr id="15" name="Graphic 2" descr="Building with solid fill">
                <a:extLst>
                  <a:ext uri="{FF2B5EF4-FFF2-40B4-BE49-F238E27FC236}">
                    <a16:creationId xmlns:a16="http://schemas.microsoft.com/office/drawing/2014/main" id="{EB410575-724F-E860-628D-9E31E8990C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5715" y="1142768"/>
                <a:ext cx="3560273" cy="3560273"/>
              </a:xfrm>
              <a:prstGeom prst="rect">
                <a:avLst/>
              </a:prstGeom>
            </p:spPr>
          </p:pic>
          <p:pic>
            <p:nvPicPr>
              <p:cNvPr id="16" name="Picture 15" descr="A green leafy plant with black background&#10;&#10;Description automatically generated">
                <a:extLst>
                  <a:ext uri="{FF2B5EF4-FFF2-40B4-BE49-F238E27FC236}">
                    <a16:creationId xmlns:a16="http://schemas.microsoft.com/office/drawing/2014/main" id="{FA96A03D-8AC6-DF53-33DC-7FEC5CC4951F}"/>
                  </a:ext>
                </a:extLst>
              </p:cNvPr>
              <p:cNvPicPr>
                <a:picLocks noChangeAspect="1"/>
              </p:cNvPicPr>
              <p:nvPr/>
            </p:nvPicPr>
            <p:blipFill>
              <a:blip r:embed="rId5"/>
              <a:stretch>
                <a:fillRect/>
              </a:stretch>
            </p:blipFill>
            <p:spPr>
              <a:xfrm>
                <a:off x="7432037" y="4000732"/>
                <a:ext cx="463488" cy="463488"/>
              </a:xfrm>
              <a:prstGeom prst="rect">
                <a:avLst/>
              </a:prstGeom>
            </p:spPr>
          </p:pic>
          <p:pic>
            <p:nvPicPr>
              <p:cNvPr id="17" name="Picture 16" descr="A green leafy plant with black background&#10;&#10;Description automatically generated">
                <a:extLst>
                  <a:ext uri="{FF2B5EF4-FFF2-40B4-BE49-F238E27FC236}">
                    <a16:creationId xmlns:a16="http://schemas.microsoft.com/office/drawing/2014/main" id="{0C87976D-9ED4-94B4-E12D-0E81648990E7}"/>
                  </a:ext>
                </a:extLst>
              </p:cNvPr>
              <p:cNvPicPr>
                <a:picLocks noChangeAspect="1"/>
              </p:cNvPicPr>
              <p:nvPr/>
            </p:nvPicPr>
            <p:blipFill>
              <a:blip r:embed="rId5"/>
              <a:stretch>
                <a:fillRect/>
              </a:stretch>
            </p:blipFill>
            <p:spPr>
              <a:xfrm>
                <a:off x="5474975" y="3992712"/>
                <a:ext cx="463488" cy="463488"/>
              </a:xfrm>
              <a:prstGeom prst="rect">
                <a:avLst/>
              </a:prstGeom>
            </p:spPr>
          </p:pic>
          <p:pic>
            <p:nvPicPr>
              <p:cNvPr id="18" name="Picture 17" descr="A green leafy plant with black background&#10;&#10;Description automatically generated">
                <a:extLst>
                  <a:ext uri="{FF2B5EF4-FFF2-40B4-BE49-F238E27FC236}">
                    <a16:creationId xmlns:a16="http://schemas.microsoft.com/office/drawing/2014/main" id="{162C682B-F14F-E745-A95B-324697E9C870}"/>
                  </a:ext>
                </a:extLst>
              </p:cNvPr>
              <p:cNvPicPr>
                <a:picLocks noChangeAspect="1"/>
              </p:cNvPicPr>
              <p:nvPr/>
            </p:nvPicPr>
            <p:blipFill>
              <a:blip r:embed="rId5"/>
              <a:stretch>
                <a:fillRect/>
              </a:stretch>
            </p:blipFill>
            <p:spPr>
              <a:xfrm>
                <a:off x="5926171" y="3992712"/>
                <a:ext cx="463488" cy="463488"/>
              </a:xfrm>
              <a:prstGeom prst="rect">
                <a:avLst/>
              </a:prstGeom>
            </p:spPr>
          </p:pic>
          <p:pic>
            <p:nvPicPr>
              <p:cNvPr id="19" name="Picture 18" descr="A green leafy plant with black background&#10;&#10;Description automatically generated">
                <a:extLst>
                  <a:ext uri="{FF2B5EF4-FFF2-40B4-BE49-F238E27FC236}">
                    <a16:creationId xmlns:a16="http://schemas.microsoft.com/office/drawing/2014/main" id="{B8208A31-28D7-AFA6-DB42-EB7415CD5BD7}"/>
                  </a:ext>
                </a:extLst>
              </p:cNvPr>
              <p:cNvPicPr>
                <a:picLocks noChangeAspect="1"/>
              </p:cNvPicPr>
              <p:nvPr/>
            </p:nvPicPr>
            <p:blipFill>
              <a:blip r:embed="rId5"/>
              <a:stretch>
                <a:fillRect/>
              </a:stretch>
            </p:blipFill>
            <p:spPr>
              <a:xfrm>
                <a:off x="6389659" y="3992712"/>
                <a:ext cx="463488" cy="463488"/>
              </a:xfrm>
              <a:prstGeom prst="rect">
                <a:avLst/>
              </a:prstGeom>
            </p:spPr>
          </p:pic>
          <p:pic>
            <p:nvPicPr>
              <p:cNvPr id="20" name="Picture 19" descr="A green leafy plant with black background&#10;&#10;Description automatically generated">
                <a:extLst>
                  <a:ext uri="{FF2B5EF4-FFF2-40B4-BE49-F238E27FC236}">
                    <a16:creationId xmlns:a16="http://schemas.microsoft.com/office/drawing/2014/main" id="{921D4573-E89C-F978-B60F-75ABAB718726}"/>
                  </a:ext>
                </a:extLst>
              </p:cNvPr>
              <p:cNvPicPr>
                <a:picLocks noChangeAspect="1"/>
              </p:cNvPicPr>
              <p:nvPr/>
            </p:nvPicPr>
            <p:blipFill>
              <a:blip r:embed="rId5"/>
              <a:stretch>
                <a:fillRect/>
              </a:stretch>
            </p:blipFill>
            <p:spPr>
              <a:xfrm>
                <a:off x="6807588" y="3992712"/>
                <a:ext cx="463488" cy="463488"/>
              </a:xfrm>
              <a:prstGeom prst="rect">
                <a:avLst/>
              </a:prstGeom>
            </p:spPr>
          </p:pic>
          <p:pic>
            <p:nvPicPr>
              <p:cNvPr id="21" name="Picture 20" descr="A green leafy plant with black background&#10;&#10;Description automatically generated">
                <a:extLst>
                  <a:ext uri="{FF2B5EF4-FFF2-40B4-BE49-F238E27FC236}">
                    <a16:creationId xmlns:a16="http://schemas.microsoft.com/office/drawing/2014/main" id="{DD649A93-C91B-E486-EA5E-C080F29D6825}"/>
                  </a:ext>
                </a:extLst>
              </p:cNvPr>
              <p:cNvPicPr>
                <a:picLocks noChangeAspect="1"/>
              </p:cNvPicPr>
              <p:nvPr/>
            </p:nvPicPr>
            <p:blipFill>
              <a:blip r:embed="rId5"/>
              <a:stretch>
                <a:fillRect/>
              </a:stretch>
            </p:blipFill>
            <p:spPr>
              <a:xfrm>
                <a:off x="7119213" y="3992712"/>
                <a:ext cx="463488" cy="463488"/>
              </a:xfrm>
              <a:prstGeom prst="rect">
                <a:avLst/>
              </a:prstGeom>
            </p:spPr>
          </p:pic>
        </p:grpSp>
        <p:sp>
          <p:nvSpPr>
            <p:cNvPr id="22" name="Oval 21">
              <a:extLst>
                <a:ext uri="{FF2B5EF4-FFF2-40B4-BE49-F238E27FC236}">
                  <a16:creationId xmlns:a16="http://schemas.microsoft.com/office/drawing/2014/main" id="{560C6BA6-5F2D-8F9B-162A-E34B8A491099}"/>
                </a:ext>
              </a:extLst>
            </p:cNvPr>
            <p:cNvSpPr/>
            <p:nvPr/>
          </p:nvSpPr>
          <p:spPr>
            <a:xfrm>
              <a:off x="4957011" y="1389708"/>
              <a:ext cx="2274970" cy="227497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oogle Shape;134;p23">
              <a:extLst>
                <a:ext uri="{FF2B5EF4-FFF2-40B4-BE49-F238E27FC236}">
                  <a16:creationId xmlns:a16="http://schemas.microsoft.com/office/drawing/2014/main" id="{3382BCA9-3D11-62CB-321B-240BFBF0E00A}"/>
                </a:ext>
              </a:extLst>
            </p:cNvPr>
            <p:cNvSpPr txBox="1"/>
            <p:nvPr/>
          </p:nvSpPr>
          <p:spPr>
            <a:xfrm>
              <a:off x="5156936" y="1429477"/>
              <a:ext cx="1875120" cy="2195432"/>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3000" b="1" i="0" u="none" strike="noStrike" cap="none">
                  <a:solidFill>
                    <a:schemeClr val="bg1"/>
                  </a:solidFill>
                  <a:latin typeface="Arial"/>
                  <a:ea typeface="Arial"/>
                  <a:cs typeface="Arial"/>
                  <a:sym typeface="Arial"/>
                </a:rPr>
                <a:t>AI</a:t>
              </a:r>
            </a:p>
          </p:txBody>
        </p:sp>
        <p:sp>
          <p:nvSpPr>
            <p:cNvPr id="24" name="Google Shape;134;p23">
              <a:extLst>
                <a:ext uri="{FF2B5EF4-FFF2-40B4-BE49-F238E27FC236}">
                  <a16:creationId xmlns:a16="http://schemas.microsoft.com/office/drawing/2014/main" id="{31ADB365-F098-90BE-1170-C0F8C08A2CF1}"/>
                </a:ext>
              </a:extLst>
            </p:cNvPr>
            <p:cNvSpPr txBox="1"/>
            <p:nvPr/>
          </p:nvSpPr>
          <p:spPr>
            <a:xfrm>
              <a:off x="6997972" y="1375380"/>
              <a:ext cx="974956" cy="410328"/>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400" b="1" i="0" u="none" strike="noStrike" cap="none">
                  <a:solidFill>
                    <a:schemeClr val="bg1"/>
                  </a:solidFill>
                  <a:latin typeface="Arial"/>
                  <a:ea typeface="Arial"/>
                  <a:cs typeface="Arial"/>
                  <a:sym typeface="Arial"/>
                </a:rPr>
                <a:t>SCHOOL</a:t>
              </a:r>
            </a:p>
          </p:txBody>
        </p:sp>
      </p:grpSp>
      <p:sp>
        <p:nvSpPr>
          <p:cNvPr id="26" name="Google Shape;134;p23">
            <a:extLst>
              <a:ext uri="{FF2B5EF4-FFF2-40B4-BE49-F238E27FC236}">
                <a16:creationId xmlns:a16="http://schemas.microsoft.com/office/drawing/2014/main" id="{65A026A1-4157-D47A-7261-C367C2DC72CF}"/>
              </a:ext>
            </a:extLst>
          </p:cNvPr>
          <p:cNvSpPr txBox="1"/>
          <p:nvPr/>
        </p:nvSpPr>
        <p:spPr>
          <a:xfrm>
            <a:off x="131949" y="1142768"/>
            <a:ext cx="4440051" cy="2677616"/>
          </a:xfrm>
          <a:prstGeom prst="rect">
            <a:avLst/>
          </a:prstGeom>
          <a:noFill/>
          <a:ln>
            <a:noFill/>
          </a:ln>
        </p:spPr>
        <p:txBody>
          <a:bodyPr spcFirstLastPara="1" wrap="square" lIns="91425" tIns="45700" rIns="91425" bIns="45700" anchor="t" anchorCtr="0">
            <a:spAutoFit/>
          </a:bodyPr>
          <a:lstStyle/>
          <a:p>
            <a:pPr algn="just"/>
            <a:r>
              <a:rPr lang="en-US" dirty="0"/>
              <a:t>• To address this issue, we propose an AI-based Plastic Detection System that can automatically identify different types of plastics from images and provide useful information for recycling and environmental management.</a:t>
            </a:r>
          </a:p>
          <a:p>
            <a:pPr algn="just"/>
            <a:r>
              <a:rPr lang="en-US" dirty="0"/>
              <a:t>• The system uses Image Processing and Machine Learning techniques to analyze plastic materials and classify them accurately.</a:t>
            </a:r>
          </a:p>
          <a:p>
            <a:pPr algn="just"/>
            <a:r>
              <a:rPr lang="en-US" dirty="0"/>
              <a:t>• The system will detect plastic type, provide composition details, generate an eco score, and suggest sustainable actions, helping users make better environmental decisions quickly.</a:t>
            </a:r>
          </a:p>
        </p:txBody>
      </p:sp>
    </p:spTree>
    <p:extLst>
      <p:ext uri="{BB962C8B-B14F-4D97-AF65-F5344CB8AC3E}">
        <p14:creationId xmlns:p14="http://schemas.microsoft.com/office/powerpoint/2010/main" val="297519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Google Shape;127;p22">
            <a:extLst>
              <a:ext uri="{FF2B5EF4-FFF2-40B4-BE49-F238E27FC236}">
                <a16:creationId xmlns:a16="http://schemas.microsoft.com/office/drawing/2014/main" id="{CC2ED9E3-05F2-5ECD-DD5B-3430C263D9B6}"/>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Project Demo</a:t>
            </a:r>
          </a:p>
        </p:txBody>
      </p:sp>
      <p:grpSp>
        <p:nvGrpSpPr>
          <p:cNvPr id="13" name="Group 12">
            <a:extLst>
              <a:ext uri="{FF2B5EF4-FFF2-40B4-BE49-F238E27FC236}">
                <a16:creationId xmlns:a16="http://schemas.microsoft.com/office/drawing/2014/main" id="{B5EF4296-6D6A-2195-AEDC-5739E9527820}"/>
              </a:ext>
            </a:extLst>
          </p:cNvPr>
          <p:cNvGrpSpPr/>
          <p:nvPr/>
        </p:nvGrpSpPr>
        <p:grpSpPr>
          <a:xfrm>
            <a:off x="1799924" y="1352550"/>
            <a:ext cx="5422232" cy="3199772"/>
            <a:chOff x="1159110" y="1292018"/>
            <a:chExt cx="5422232" cy="3199772"/>
          </a:xfrm>
        </p:grpSpPr>
        <p:sp>
          <p:nvSpPr>
            <p:cNvPr id="6" name="Oval 5">
              <a:extLst>
                <a:ext uri="{FF2B5EF4-FFF2-40B4-BE49-F238E27FC236}">
                  <a16:creationId xmlns:a16="http://schemas.microsoft.com/office/drawing/2014/main" id="{AA8EF506-DE96-236C-46F0-224868672ADF}"/>
                </a:ext>
              </a:extLst>
            </p:cNvPr>
            <p:cNvSpPr/>
            <p:nvPr/>
          </p:nvSpPr>
          <p:spPr>
            <a:xfrm>
              <a:off x="3217787" y="1292018"/>
              <a:ext cx="2826661" cy="282666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hlinkClick r:id="rId3"/>
              <a:extLst>
                <a:ext uri="{FF2B5EF4-FFF2-40B4-BE49-F238E27FC236}">
                  <a16:creationId xmlns:a16="http://schemas.microsoft.com/office/drawing/2014/main" id="{DED40980-3081-6659-4392-177BDDF9F096}"/>
                </a:ext>
              </a:extLst>
            </p:cNvPr>
            <p:cNvSpPr/>
            <p:nvPr/>
          </p:nvSpPr>
          <p:spPr>
            <a:xfrm>
              <a:off x="1159110" y="2630906"/>
              <a:ext cx="5422232" cy="1860884"/>
            </a:xfrm>
            <a:prstGeom prst="roundRect">
              <a:avLst>
                <a:gd name="adj" fmla="val 1494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r>
                <a:rPr lang="en-US" b="1" dirty="0">
                  <a:solidFill>
                    <a:schemeClr val="bg1"/>
                  </a:solidFill>
                  <a:hlinkClick r:id="rId4">
                    <a:extLst>
                      <a:ext uri="{A12FA001-AC4F-418D-AE19-62706E023703}">
                        <ahyp:hlinkClr xmlns:ahyp="http://schemas.microsoft.com/office/drawing/2018/hyperlinkcolor" val="tx"/>
                      </a:ext>
                    </a:extLst>
                  </a:hlinkClick>
                </a:rPr>
                <a:t>Plastic Type Identification System</a:t>
              </a:r>
              <a:endParaRPr lang="en-US" b="1" dirty="0">
                <a:solidFill>
                  <a:schemeClr val="bg1"/>
                </a:solidFill>
              </a:endParaRPr>
            </a:p>
            <a:p>
              <a:pPr algn="ctr"/>
              <a:endParaRPr lang="en-US" dirty="0"/>
            </a:p>
          </p:txBody>
        </p:sp>
        <p:sp>
          <p:nvSpPr>
            <p:cNvPr id="11" name="TextBox 10">
              <a:extLst>
                <a:ext uri="{FF2B5EF4-FFF2-40B4-BE49-F238E27FC236}">
                  <a16:creationId xmlns:a16="http://schemas.microsoft.com/office/drawing/2014/main" id="{A00A5BB1-3E0C-AD1B-4F66-76DA03418642}"/>
                </a:ext>
              </a:extLst>
            </p:cNvPr>
            <p:cNvSpPr txBox="1"/>
            <p:nvPr/>
          </p:nvSpPr>
          <p:spPr>
            <a:xfrm>
              <a:off x="1691508" y="3007350"/>
              <a:ext cx="4357437" cy="553998"/>
            </a:xfrm>
            <a:prstGeom prst="rect">
              <a:avLst/>
            </a:prstGeom>
            <a:noFill/>
          </p:spPr>
          <p:txBody>
            <a:bodyPr wrap="square">
              <a:spAutoFit/>
            </a:bodyPr>
            <a:lstStyle/>
            <a:p>
              <a:pPr algn="ctr"/>
              <a:r>
                <a:rPr lang="en-US" sz="3000" b="1" dirty="0">
                  <a:solidFill>
                    <a:schemeClr val="bg1"/>
                  </a:solidFill>
                </a:rPr>
                <a:t>Project</a:t>
              </a:r>
              <a:r>
                <a:rPr lang="en-US" sz="3000" b="1" i="0" u="none" strike="noStrike" cap="none" dirty="0">
                  <a:solidFill>
                    <a:schemeClr val="bg1"/>
                  </a:solidFill>
                  <a:latin typeface="Arial"/>
                  <a:ea typeface="Arial"/>
                  <a:cs typeface="Arial"/>
                  <a:sym typeface="Arial"/>
                </a:rPr>
                <a:t> link </a:t>
              </a:r>
              <a:endParaRPr lang="en-US" sz="3000" b="1" dirty="0">
                <a:solidFill>
                  <a:schemeClr val="bg1"/>
                </a:solidFill>
              </a:endParaRPr>
            </a:p>
          </p:txBody>
        </p:sp>
        <p:sp>
          <p:nvSpPr>
            <p:cNvPr id="12" name="Rectangle 2">
              <a:extLst>
                <a:ext uri="{FF2B5EF4-FFF2-40B4-BE49-F238E27FC236}">
                  <a16:creationId xmlns:a16="http://schemas.microsoft.com/office/drawing/2014/main" id="{18516467-7CBC-2FFE-993C-F7C080FA7F0C}"/>
                </a:ext>
              </a:extLst>
            </p:cNvPr>
            <p:cNvSpPr>
              <a:spLocks noChangeArrowheads="1"/>
            </p:cNvSpPr>
            <p:nvPr/>
          </p:nvSpPr>
          <p:spPr bwMode="auto">
            <a:xfrm>
              <a:off x="1696004" y="3593697"/>
              <a:ext cx="43484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sz="1600" b="1" dirty="0">
                  <a:solidFill>
                    <a:schemeClr val="tx1"/>
                  </a:solidFill>
                </a:rPr>
                <a:t>       </a:t>
              </a:r>
              <a:endParaRPr lang="en-US" sz="1600" b="1" dirty="0">
                <a:solidFill>
                  <a:schemeClr val="bg1"/>
                </a:solidFill>
              </a:endParaRPr>
            </a:p>
            <a:p>
              <a:pPr eaLnBrk="0" fontAlgn="base" hangingPunct="0">
                <a:spcBef>
                  <a:spcPct val="0"/>
                </a:spcBef>
                <a:spcAft>
                  <a:spcPct val="0"/>
                </a:spcAft>
                <a:buClrTx/>
              </a:pPr>
              <a:r>
                <a:rPr lang="en-US" altLang="en-US" sz="1600" dirty="0">
                  <a:solidFill>
                    <a:schemeClr val="bg1"/>
                  </a:solidFill>
                </a:rPr>
                <a:t> </a:t>
              </a:r>
              <a:endParaRPr lang="en-US" altLang="en-US" sz="1600" b="0" i="0" u="none" strike="noStrike" cap="none" normalizeH="0" baseline="0" dirty="0">
                <a:ln>
                  <a:noFill/>
                </a:ln>
                <a:solidFill>
                  <a:schemeClr val="bg1"/>
                </a:solidFill>
                <a:effectLst/>
                <a:latin typeface="Arial" panose="020B0604020202020204" pitchFamily="34" charset="0"/>
              </a:endParaRPr>
            </a:p>
          </p:txBody>
        </p:sp>
      </p:grpSp>
      <p:grpSp>
        <p:nvGrpSpPr>
          <p:cNvPr id="19" name="Group 18">
            <a:extLst>
              <a:ext uri="{FF2B5EF4-FFF2-40B4-BE49-F238E27FC236}">
                <a16:creationId xmlns:a16="http://schemas.microsoft.com/office/drawing/2014/main" id="{65058CC0-CC04-8036-24AE-51461F3C17DF}"/>
              </a:ext>
            </a:extLst>
          </p:cNvPr>
          <p:cNvGrpSpPr/>
          <p:nvPr/>
        </p:nvGrpSpPr>
        <p:grpSpPr>
          <a:xfrm>
            <a:off x="4393138" y="1229664"/>
            <a:ext cx="1757585" cy="1815552"/>
            <a:chOff x="686159" y="633457"/>
            <a:chExt cx="2849880" cy="2943873"/>
          </a:xfrm>
        </p:grpSpPr>
        <p:sp>
          <p:nvSpPr>
            <p:cNvPr id="18" name="Rectangle 17">
              <a:extLst>
                <a:ext uri="{FF2B5EF4-FFF2-40B4-BE49-F238E27FC236}">
                  <a16:creationId xmlns:a16="http://schemas.microsoft.com/office/drawing/2014/main" id="{1401590A-7F69-1C2D-2A3C-3BD68F2C27B2}"/>
                </a:ext>
              </a:extLst>
            </p:cNvPr>
            <p:cNvSpPr/>
            <p:nvPr/>
          </p:nvSpPr>
          <p:spPr>
            <a:xfrm>
              <a:off x="790438" y="1492457"/>
              <a:ext cx="2613660" cy="14935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erson on a computer screen&#10;&#10;Description automatically generated">
              <a:extLst>
                <a:ext uri="{FF2B5EF4-FFF2-40B4-BE49-F238E27FC236}">
                  <a16:creationId xmlns:a16="http://schemas.microsoft.com/office/drawing/2014/main" id="{AEFB9C29-B9A9-F09E-AF9C-106FEC826A3A}"/>
                </a:ext>
              </a:extLst>
            </p:cNvPr>
            <p:cNvPicPr>
              <a:picLocks noChangeAspect="1"/>
            </p:cNvPicPr>
            <p:nvPr/>
          </p:nvPicPr>
          <p:blipFill rotWithShape="1">
            <a:blip r:embed="rId5"/>
            <a:srcRect l="17439" r="18038"/>
            <a:stretch/>
          </p:blipFill>
          <p:spPr>
            <a:xfrm>
              <a:off x="686159" y="633457"/>
              <a:ext cx="2849880" cy="2943873"/>
            </a:xfrm>
            <a:prstGeom prst="rect">
              <a:avLst/>
            </a:prstGeom>
          </p:spPr>
        </p:pic>
      </p:grpSp>
    </p:spTree>
    <p:extLst>
      <p:ext uri="{BB962C8B-B14F-4D97-AF65-F5344CB8AC3E}">
        <p14:creationId xmlns:p14="http://schemas.microsoft.com/office/powerpoint/2010/main" val="2489868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14" name="Picture 13" descr="A group of people standing on a arrow&#10;&#10;Description automatically generated">
            <a:extLst>
              <a:ext uri="{FF2B5EF4-FFF2-40B4-BE49-F238E27FC236}">
                <a16:creationId xmlns:a16="http://schemas.microsoft.com/office/drawing/2014/main" id="{3AF0A26D-CA08-4444-AD3E-FF6B88FF92E5}"/>
              </a:ext>
            </a:extLst>
          </p:cNvPr>
          <p:cNvPicPr>
            <a:picLocks noChangeAspect="1"/>
          </p:cNvPicPr>
          <p:nvPr/>
        </p:nvPicPr>
        <p:blipFill>
          <a:blip r:embed="rId3"/>
          <a:stretch>
            <a:fillRect/>
          </a:stretch>
        </p:blipFill>
        <p:spPr>
          <a:xfrm flipH="1">
            <a:off x="4488180" y="1021274"/>
            <a:ext cx="4655820" cy="3100952"/>
          </a:xfrm>
          <a:prstGeom prst="rect">
            <a:avLst/>
          </a:prstGeom>
        </p:spPr>
      </p:pic>
      <p:sp>
        <p:nvSpPr>
          <p:cNvPr id="4" name="Google Shape;127;p22">
            <a:extLst>
              <a:ext uri="{FF2B5EF4-FFF2-40B4-BE49-F238E27FC236}">
                <a16:creationId xmlns:a16="http://schemas.microsoft.com/office/drawing/2014/main" id="{8896CF32-2381-134F-850C-1B4E39261E20}"/>
              </a:ext>
            </a:extLst>
          </p:cNvPr>
          <p:cNvSpPr txBox="1">
            <a:spLocks/>
          </p:cNvSpPr>
          <p:nvPr/>
        </p:nvSpPr>
        <p:spPr>
          <a:xfrm>
            <a:off x="131949" y="68276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dirty="0">
                <a:solidFill>
                  <a:srgbClr val="002060"/>
                </a:solidFill>
              </a:rPr>
              <a:t>Future Scope</a:t>
            </a:r>
          </a:p>
        </p:txBody>
      </p:sp>
      <p:sp>
        <p:nvSpPr>
          <p:cNvPr id="8" name="Google Shape;134;p23">
            <a:extLst>
              <a:ext uri="{FF2B5EF4-FFF2-40B4-BE49-F238E27FC236}">
                <a16:creationId xmlns:a16="http://schemas.microsoft.com/office/drawing/2014/main" id="{57335198-79A6-CAA5-2CC6-0BB009B8F43A}"/>
              </a:ext>
            </a:extLst>
          </p:cNvPr>
          <p:cNvSpPr txBox="1"/>
          <p:nvPr/>
        </p:nvSpPr>
        <p:spPr>
          <a:xfrm>
            <a:off x="131949" y="1142768"/>
            <a:ext cx="4440051" cy="1918434"/>
          </a:xfrm>
          <a:prstGeom prst="rect">
            <a:avLst/>
          </a:prstGeom>
          <a:noFill/>
          <a:ln>
            <a:noFill/>
          </a:ln>
        </p:spPr>
        <p:txBody>
          <a:bodyPr spcFirstLastPara="1" wrap="square" lIns="91425" tIns="45700" rIns="91425" bIns="45700" anchor="t" anchorCtr="0">
            <a:spAutoFit/>
          </a:bodyPr>
          <a:lstStyle/>
          <a:p>
            <a:pPr>
              <a:spcAft>
                <a:spcPts val="800"/>
              </a:spcAft>
            </a:pPr>
            <a:r>
              <a:rPr lang="en-US" dirty="0"/>
              <a:t>• Increase support for more plastic categories and materials</a:t>
            </a:r>
            <a:br>
              <a:rPr lang="en-US" dirty="0"/>
            </a:br>
            <a:r>
              <a:rPr lang="en-US" dirty="0"/>
              <a:t>• </a:t>
            </a:r>
            <a:r>
              <a:rPr lang="en-IN" dirty="0"/>
              <a:t>Real-Time Automated Waste Sorting</a:t>
            </a:r>
            <a:br>
              <a:rPr lang="en-US" dirty="0"/>
            </a:br>
            <a:r>
              <a:rPr lang="en-US" dirty="0"/>
              <a:t>• </a:t>
            </a:r>
            <a:r>
              <a:rPr lang="en-IN" dirty="0"/>
              <a:t>Improved Environmental Sustainability</a:t>
            </a:r>
            <a:br>
              <a:rPr lang="en-US" dirty="0"/>
            </a:br>
            <a:r>
              <a:rPr lang="en-US" dirty="0"/>
              <a:t>• Connect with smart waste management and recycling systems</a:t>
            </a:r>
            <a:br>
              <a:rPr lang="en-US" dirty="0"/>
            </a:br>
            <a:r>
              <a:rPr lang="en-US" dirty="0"/>
              <a:t>• </a:t>
            </a:r>
            <a:r>
              <a:rPr lang="en-IN" dirty="0"/>
              <a:t>Industrial and Municipal Deployment</a:t>
            </a:r>
            <a:br>
              <a:rPr lang="en-US" dirty="0"/>
            </a:br>
            <a:r>
              <a:rPr lang="en-US" dirty="0"/>
              <a:t>• Use of Hyperspectral and Sensor Technologies</a:t>
            </a:r>
          </a:p>
        </p:txBody>
      </p:sp>
    </p:spTree>
    <p:extLst>
      <p:ext uri="{BB962C8B-B14F-4D97-AF65-F5344CB8AC3E}">
        <p14:creationId xmlns:p14="http://schemas.microsoft.com/office/powerpoint/2010/main" val="262120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7" name="Google Shape;127;p22">
            <a:extLst>
              <a:ext uri="{FF2B5EF4-FFF2-40B4-BE49-F238E27FC236}">
                <a16:creationId xmlns:a16="http://schemas.microsoft.com/office/drawing/2014/main" id="{2CBB2190-2983-5B07-C14F-C0C1B82BC484}"/>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Conclusion</a:t>
            </a:r>
          </a:p>
        </p:txBody>
      </p:sp>
      <p:sp>
        <p:nvSpPr>
          <p:cNvPr id="8" name="Google Shape;134;p23">
            <a:extLst>
              <a:ext uri="{FF2B5EF4-FFF2-40B4-BE49-F238E27FC236}">
                <a16:creationId xmlns:a16="http://schemas.microsoft.com/office/drawing/2014/main" id="{F656EEBA-FCC6-FE6F-EAF7-837658983D56}"/>
              </a:ext>
            </a:extLst>
          </p:cNvPr>
          <p:cNvSpPr txBox="1"/>
          <p:nvPr/>
        </p:nvSpPr>
        <p:spPr>
          <a:xfrm>
            <a:off x="131949" y="1142768"/>
            <a:ext cx="4440051" cy="1487546"/>
          </a:xfrm>
          <a:prstGeom prst="rect">
            <a:avLst/>
          </a:prstGeom>
          <a:noFill/>
          <a:ln>
            <a:noFill/>
          </a:ln>
        </p:spPr>
        <p:txBody>
          <a:bodyPr spcFirstLastPara="1" wrap="square" lIns="91425" tIns="45700" rIns="91425" bIns="45700" anchor="t" anchorCtr="0">
            <a:spAutoFit/>
          </a:bodyPr>
          <a:lstStyle/>
          <a:p>
            <a:pPr lvl="0">
              <a:spcAft>
                <a:spcPts val="800"/>
              </a:spcAft>
            </a:pPr>
            <a:r>
              <a:rPr lang="en-US" dirty="0"/>
              <a:t>• AI helps identify different types of plastic accurately</a:t>
            </a:r>
            <a:br>
              <a:rPr lang="en-US" dirty="0"/>
            </a:br>
            <a:r>
              <a:rPr lang="en-US" dirty="0"/>
              <a:t>• Reduces manual effort and human errors</a:t>
            </a:r>
            <a:br>
              <a:rPr lang="en-US" dirty="0"/>
            </a:br>
            <a:r>
              <a:rPr lang="en-US" dirty="0"/>
              <a:t>• Improves recycling efficiency</a:t>
            </a:r>
            <a:br>
              <a:rPr lang="en-US" dirty="0"/>
            </a:br>
            <a:r>
              <a:rPr lang="en-US" dirty="0"/>
              <a:t>• Supports better waste management practices</a:t>
            </a:r>
            <a:br>
              <a:rPr lang="en-US" dirty="0"/>
            </a:br>
            <a:r>
              <a:rPr lang="en-US" dirty="0"/>
              <a:t>• Encourages environmentally friendly decisions</a:t>
            </a:r>
            <a:br>
              <a:rPr lang="en-US" dirty="0"/>
            </a:br>
            <a:r>
              <a:rPr lang="en-US" dirty="0"/>
              <a:t>• Contributes to a cleaner and more sustainable future</a:t>
            </a:r>
          </a:p>
        </p:txBody>
      </p:sp>
      <p:pic>
        <p:nvPicPr>
          <p:cNvPr id="9" name="Picture 8" descr="A person standing next to a clipboard with a checklist&#10;&#10;Description automatically generated">
            <a:extLst>
              <a:ext uri="{FF2B5EF4-FFF2-40B4-BE49-F238E27FC236}">
                <a16:creationId xmlns:a16="http://schemas.microsoft.com/office/drawing/2014/main" id="{E9417E3B-DDB5-FAE5-89DC-EBB8DF91425C}"/>
              </a:ext>
            </a:extLst>
          </p:cNvPr>
          <p:cNvPicPr>
            <a:picLocks noChangeAspect="1"/>
          </p:cNvPicPr>
          <p:nvPr/>
        </p:nvPicPr>
        <p:blipFill rotWithShape="1">
          <a:blip r:embed="rId3"/>
          <a:srcRect l="17552" r="12574"/>
          <a:stretch/>
        </p:blipFill>
        <p:spPr>
          <a:xfrm>
            <a:off x="5205663" y="1100827"/>
            <a:ext cx="3930314" cy="3749862"/>
          </a:xfrm>
          <a:prstGeom prst="rect">
            <a:avLst/>
          </a:prstGeom>
        </p:spPr>
      </p:pic>
    </p:spTree>
    <p:extLst>
      <p:ext uri="{BB962C8B-B14F-4D97-AF65-F5344CB8AC3E}">
        <p14:creationId xmlns:p14="http://schemas.microsoft.com/office/powerpoint/2010/main" val="3104766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thank you card&#10;&#10;Description automatically generated">
            <a:extLst>
              <a:ext uri="{FF2B5EF4-FFF2-40B4-BE49-F238E27FC236}">
                <a16:creationId xmlns:a16="http://schemas.microsoft.com/office/drawing/2014/main" id="{A93903B1-E7A1-B168-DEC2-0635A4163F59}"/>
              </a:ext>
            </a:extLst>
          </p:cNvPr>
          <p:cNvPicPr>
            <a:picLocks noChangeAspect="1"/>
          </p:cNvPicPr>
          <p:nvPr/>
        </p:nvPicPr>
        <p:blipFill rotWithShape="1">
          <a:blip r:embed="rId3"/>
          <a:srcRect l="9710" t="21904" r="9339"/>
          <a:stretch/>
        </p:blipFill>
        <p:spPr>
          <a:xfrm>
            <a:off x="1869484" y="1466831"/>
            <a:ext cx="5647194" cy="3064485"/>
          </a:xfrm>
          <a:prstGeom prst="rect">
            <a:avLst/>
          </a:prstGeom>
        </p:spPr>
      </p:pic>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http://schemas.microsoft.com/office/2006/documentManagement/types"/>
    <ds:schemaRef ds:uri="http://purl.org/dc/elements/1.1/"/>
    <ds:schemaRef ds:uri="http://purl.org/dc/dcmitype/"/>
    <ds:schemaRef ds:uri="c0fa2617-96bd-425d-8578-e93563fe37c5"/>
    <ds:schemaRef ds:uri="http://www.w3.org/XML/1998/namespace"/>
    <ds:schemaRef ds:uri="http://purl.org/dc/terms/"/>
    <ds:schemaRef ds:uri="9162bd5b-4ed9-4da3-b376-05204580ba3f"/>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68</TotalTime>
  <Words>298</Words>
  <Application>Microsoft Office PowerPoint</Application>
  <PresentationFormat>On-screen Show (16:9)</PresentationFormat>
  <Paragraphs>35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Admin</cp:lastModifiedBy>
  <cp:revision>18</cp:revision>
  <dcterms:modified xsi:type="dcterms:W3CDTF">2026-06-03T10:46:58Z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